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221">
          <p15:clr>
            <a:srgbClr val="A4A3A4"/>
          </p15:clr>
        </p15:guide>
        <p15:guide id="2" pos="2926">
          <p15:clr>
            <a:srgbClr val="A4A3A4"/>
          </p15:clr>
        </p15:guide>
      </p15:sldGuideLst>
    </p:ext>
    <p:ext uri="GoogleSlidesCustomDataVersion2">
      <go:slidesCustomData xmlns:go="http://customooxmlschemas.google.com/" r:id="rId27" roundtripDataSignature="AMtx7miOfUmsUPaIdR5RpJ2FnOrbGXyCQ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86D1AD0-DED9-4A29-98C2-E7826B8A0A00}">
  <a:tblStyle styleId="{986D1AD0-DED9-4A29-98C2-E7826B8A0A0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A0CA1CE7-8C70-413D-B3C8-C700CF9AC3FD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221" orient="horz"/>
        <p:guide pos="292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7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8" name="Google Shape;498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2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2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3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1.png"/><Relationship Id="rId10" Type="http://schemas.openxmlformats.org/officeDocument/2006/relationships/image" Target="../media/image9.png"/><Relationship Id="rId9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13.png"/><Relationship Id="rId8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Relationship Id="rId4" Type="http://schemas.openxmlformats.org/officeDocument/2006/relationships/image" Target="../media/image11.png"/><Relationship Id="rId5" Type="http://schemas.openxmlformats.org/officeDocument/2006/relationships/image" Target="../media/image6.png"/><Relationship Id="rId6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Relationship Id="rId4" Type="http://schemas.openxmlformats.org/officeDocument/2006/relationships/image" Target="../media/image3.png"/><Relationship Id="rId5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22.png"/><Relationship Id="rId11" Type="http://schemas.openxmlformats.org/officeDocument/2006/relationships/image" Target="../media/image9.png"/><Relationship Id="rId10" Type="http://schemas.openxmlformats.org/officeDocument/2006/relationships/image" Target="../media/image32.png"/><Relationship Id="rId9" Type="http://schemas.openxmlformats.org/officeDocument/2006/relationships/image" Target="../media/image34.png"/><Relationship Id="rId5" Type="http://schemas.openxmlformats.org/officeDocument/2006/relationships/image" Target="../media/image17.png"/><Relationship Id="rId6" Type="http://schemas.openxmlformats.org/officeDocument/2006/relationships/image" Target="../media/image19.png"/><Relationship Id="rId7" Type="http://schemas.openxmlformats.org/officeDocument/2006/relationships/image" Target="../media/image21.png"/><Relationship Id="rId8" Type="http://schemas.openxmlformats.org/officeDocument/2006/relationships/image" Target="../media/image2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Relationship Id="rId4" Type="http://schemas.openxmlformats.org/officeDocument/2006/relationships/image" Target="../media/image25.png"/><Relationship Id="rId10" Type="http://schemas.openxmlformats.org/officeDocument/2006/relationships/image" Target="../media/image12.png"/><Relationship Id="rId9" Type="http://schemas.openxmlformats.org/officeDocument/2006/relationships/image" Target="../media/image9.png"/><Relationship Id="rId5" Type="http://schemas.openxmlformats.org/officeDocument/2006/relationships/image" Target="../media/image36.png"/><Relationship Id="rId6" Type="http://schemas.openxmlformats.org/officeDocument/2006/relationships/image" Target="../media/image20.png"/><Relationship Id="rId7" Type="http://schemas.openxmlformats.org/officeDocument/2006/relationships/image" Target="../media/image29.png"/><Relationship Id="rId8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Relationship Id="rId4" Type="http://schemas.openxmlformats.org/officeDocument/2006/relationships/image" Target="../media/image3.png"/><Relationship Id="rId5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6.png"/><Relationship Id="rId4" Type="http://schemas.openxmlformats.org/officeDocument/2006/relationships/image" Target="../media/image23.png"/><Relationship Id="rId5" Type="http://schemas.openxmlformats.org/officeDocument/2006/relationships/image" Target="../media/image3.png"/><Relationship Id="rId6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8.png"/><Relationship Id="rId4" Type="http://schemas.openxmlformats.org/officeDocument/2006/relationships/image" Target="../media/image24.png"/><Relationship Id="rId9" Type="http://schemas.openxmlformats.org/officeDocument/2006/relationships/image" Target="../media/image9.png"/><Relationship Id="rId5" Type="http://schemas.openxmlformats.org/officeDocument/2006/relationships/image" Target="../media/image31.png"/><Relationship Id="rId6" Type="http://schemas.openxmlformats.org/officeDocument/2006/relationships/image" Target="../media/image35.png"/><Relationship Id="rId7" Type="http://schemas.openxmlformats.org/officeDocument/2006/relationships/image" Target="../media/image33.png"/><Relationship Id="rId8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30.png"/><Relationship Id="rId5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/>
        </p:nvSpPr>
        <p:spPr>
          <a:xfrm>
            <a:off x="5598160" y="1300480"/>
            <a:ext cx="5078027" cy="768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F2B4D"/>
                </a:solidFill>
                <a:latin typeface="Calibri"/>
                <a:ea typeface="Calibri"/>
                <a:cs typeface="Calibri"/>
                <a:sym typeface="Calibri"/>
              </a:rPr>
              <a:t>Ciudad Alerta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5868305" y="3127355"/>
            <a:ext cx="45378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  <a:t>Presentación Fase 1 – Proyecto Capstone 2026-2</a:t>
            </a:r>
            <a:br>
              <a:rPr b="0" i="0" lang="en-US" sz="1400" u="none" cap="none" strike="noStrike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  <a:t>Duoc UC : Ingeniería en Informática</a:t>
            </a:r>
            <a:br>
              <a:rPr b="0" i="0" lang="en-US" sz="1400" u="none" cap="none" strike="noStrike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  <a:t>Profesor: Jorge Guzmán Bozo</a:t>
            </a:r>
            <a:br>
              <a:rPr b="0" i="0" lang="en-US" sz="1400" u="none" cap="none" strike="noStrike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  <a:t>Equipo: Claudio Torres · Esteban Ibarra · Rodrigo Hernández</a:t>
            </a:r>
            <a:endParaRPr/>
          </a:p>
        </p:txBody>
      </p:sp>
      <p:sp>
        <p:nvSpPr>
          <p:cNvPr id="90" name="Google Shape;90;p1"/>
          <p:cNvSpPr/>
          <p:nvPr/>
        </p:nvSpPr>
        <p:spPr>
          <a:xfrm>
            <a:off x="5238294" y="4629149"/>
            <a:ext cx="6027938" cy="1371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4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5995670" y="4732020"/>
            <a:ext cx="4512945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35696"/>
                </a:solidFill>
                <a:latin typeface="Calibri"/>
                <a:ea typeface="Calibri"/>
                <a:cs typeface="Calibri"/>
                <a:sym typeface="Calibri"/>
              </a:rPr>
              <a:t>“Reporta · Verifica · Conecta”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5141595" y="5344795"/>
            <a:ext cx="6248400" cy="3289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9707A"/>
                </a:solidFill>
                <a:latin typeface="Calibri"/>
                <a:ea typeface="Calibri"/>
                <a:cs typeface="Calibri"/>
                <a:sym typeface="Calibri"/>
              </a:rPr>
              <a:t>Plataforma de inteligencia urbana comunitaria para reportar y gestionar incidencias.</a:t>
            </a:r>
            <a:endParaRPr/>
          </a:p>
        </p:txBody>
      </p:sp>
      <p:sp>
        <p:nvSpPr>
          <p:cNvPr id="93" name="Google Shape;93;p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2B4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861060" y="6549390"/>
            <a:ext cx="11265535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2026  |  Ciudad Alerta  |  1</a:t>
            </a:r>
            <a:endParaRPr/>
          </a:p>
        </p:txBody>
      </p:sp>
      <p:pic>
        <p:nvPicPr>
          <p:cNvPr descr="a_clean_vector_style_monochrome_black_and_white_g.png" id="95" name="Google Shape;9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2615" y="337185"/>
            <a:ext cx="4351655" cy="3260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52142" y="-41127"/>
            <a:ext cx="3816427" cy="1225402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9368" y="5420235"/>
            <a:ext cx="2114550" cy="78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 txBox="1"/>
          <p:nvPr/>
        </p:nvSpPr>
        <p:spPr>
          <a:xfrm>
            <a:off x="548640" y="320040"/>
            <a:ext cx="2352503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0F2B4D"/>
                </a:solidFill>
                <a:latin typeface="Calibri"/>
                <a:ea typeface="Calibri"/>
                <a:cs typeface="Calibri"/>
                <a:sym typeface="Calibri"/>
              </a:rPr>
              <a:t>1. Problemática</a:t>
            </a:r>
            <a:endParaRPr/>
          </a:p>
        </p:txBody>
      </p:sp>
      <p:sp>
        <p:nvSpPr>
          <p:cNvPr id="103" name="Google Shape;103;p2"/>
          <p:cNvSpPr txBox="1"/>
          <p:nvPr/>
        </p:nvSpPr>
        <p:spPr>
          <a:xfrm>
            <a:off x="3219958" y="721360"/>
            <a:ext cx="2351926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69707A"/>
                </a:solidFill>
                <a:latin typeface="Calibri"/>
                <a:ea typeface="Calibri"/>
                <a:cs typeface="Calibri"/>
                <a:sym typeface="Calibri"/>
              </a:rPr>
              <a:t>¿Qué problema estamos resolviendo?</a:t>
            </a:r>
            <a:endParaRPr/>
          </a:p>
        </p:txBody>
      </p:sp>
      <p:sp>
        <p:nvSpPr>
          <p:cNvPr id="104" name="Google Shape;104;p2"/>
          <p:cNvSpPr/>
          <p:nvPr/>
        </p:nvSpPr>
        <p:spPr>
          <a:xfrm>
            <a:off x="640080" y="1417320"/>
            <a:ext cx="3566160" cy="4389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4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"/>
          <p:cNvSpPr/>
          <p:nvPr/>
        </p:nvSpPr>
        <p:spPr>
          <a:xfrm>
            <a:off x="640080" y="1417320"/>
            <a:ext cx="91440" cy="4389120"/>
          </a:xfrm>
          <a:prstGeom prst="rect">
            <a:avLst/>
          </a:prstGeom>
          <a:solidFill>
            <a:srgbClr val="23569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1492885" y="1920240"/>
            <a:ext cx="1630045" cy="3219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F2B4D"/>
                </a:solidFill>
                <a:latin typeface="Calibri"/>
                <a:ea typeface="Calibri"/>
                <a:cs typeface="Calibri"/>
                <a:sym typeface="Calibri"/>
              </a:rPr>
              <a:t>Situación actual</a:t>
            </a:r>
            <a:endParaRPr/>
          </a:p>
        </p:txBody>
      </p:sp>
      <p:sp>
        <p:nvSpPr>
          <p:cNvPr id="107" name="Google Shape;107;p2"/>
          <p:cNvSpPr txBox="1"/>
          <p:nvPr/>
        </p:nvSpPr>
        <p:spPr>
          <a:xfrm>
            <a:off x="822959" y="2619248"/>
            <a:ext cx="3246120" cy="10926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  <a:t>Cuando una persona detecta un problema urbano, suele enfrentar canales fragmentados, poca claridad sobre quién debe resolverlo y escaso seguimiento del reporte.</a:t>
            </a:r>
            <a:endParaRPr/>
          </a:p>
        </p:txBody>
      </p:sp>
      <p:sp>
        <p:nvSpPr>
          <p:cNvPr id="108" name="Google Shape;108;p2"/>
          <p:cNvSpPr/>
          <p:nvPr/>
        </p:nvSpPr>
        <p:spPr>
          <a:xfrm>
            <a:off x="4315968" y="1417320"/>
            <a:ext cx="3566160" cy="4389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4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/>
          <p:nvPr/>
        </p:nvSpPr>
        <p:spPr>
          <a:xfrm>
            <a:off x="4215003" y="1417320"/>
            <a:ext cx="91440" cy="4389120"/>
          </a:xfrm>
          <a:prstGeom prst="rect">
            <a:avLst/>
          </a:prstGeom>
          <a:solidFill>
            <a:srgbClr val="40963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5504180" y="1877695"/>
            <a:ext cx="1391285" cy="3219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F2B4D"/>
                </a:solidFill>
                <a:latin typeface="Calibri"/>
                <a:ea typeface="Calibri"/>
                <a:cs typeface="Calibri"/>
                <a:sym typeface="Calibri"/>
              </a:rPr>
              <a:t>Consecuencias</a:t>
            </a:r>
            <a:endParaRPr/>
          </a:p>
        </p:txBody>
      </p:sp>
      <p:sp>
        <p:nvSpPr>
          <p:cNvPr id="111" name="Google Shape;111;p2"/>
          <p:cNvSpPr txBox="1"/>
          <p:nvPr/>
        </p:nvSpPr>
        <p:spPr>
          <a:xfrm>
            <a:off x="4576318" y="2619248"/>
            <a:ext cx="3246120" cy="14927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  <a:t>• Reportes dispersos en distintos canales.</a:t>
            </a:r>
            <a:br>
              <a:rPr b="0" lang="en-US" sz="1300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1300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  <a:t>• Dificultad para identificar al organismo responsable.</a:t>
            </a:r>
            <a:br>
              <a:rPr b="0" lang="en-US" sz="1300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1300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  <a:t>• Duplicidad y baja trazabilidad.</a:t>
            </a:r>
            <a:br>
              <a:rPr b="0" lang="en-US" sz="1300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1300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  <a:t>• Poca visibilidad del estado del problema.</a:t>
            </a:r>
            <a:br>
              <a:rPr b="0" lang="en-US" sz="1300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1300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  <a:t>• Barreras para personas con movilidad reducida.</a:t>
            </a:r>
            <a:endParaRPr/>
          </a:p>
        </p:txBody>
      </p:sp>
      <p:sp>
        <p:nvSpPr>
          <p:cNvPr id="112" name="Google Shape;112;p2"/>
          <p:cNvSpPr/>
          <p:nvPr/>
        </p:nvSpPr>
        <p:spPr>
          <a:xfrm>
            <a:off x="7991856" y="1417320"/>
            <a:ext cx="3566160" cy="4389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4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"/>
          <p:cNvSpPr/>
          <p:nvPr/>
        </p:nvSpPr>
        <p:spPr>
          <a:xfrm>
            <a:off x="7891526" y="1417320"/>
            <a:ext cx="91440" cy="4389120"/>
          </a:xfrm>
          <a:prstGeom prst="rect">
            <a:avLst/>
          </a:prstGeom>
          <a:solidFill>
            <a:srgbClr val="0F2B4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"/>
          <p:cNvSpPr txBox="1"/>
          <p:nvPr/>
        </p:nvSpPr>
        <p:spPr>
          <a:xfrm>
            <a:off x="8790305" y="1876425"/>
            <a:ext cx="2171065" cy="3219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F2B4D"/>
                </a:solidFill>
                <a:latin typeface="Calibri"/>
                <a:ea typeface="Calibri"/>
                <a:cs typeface="Calibri"/>
                <a:sym typeface="Calibri"/>
              </a:rPr>
              <a:t>Necesidad detectada</a:t>
            </a:r>
            <a:endParaRPr/>
          </a:p>
        </p:txBody>
      </p:sp>
      <p:sp>
        <p:nvSpPr>
          <p:cNvPr id="115" name="Google Shape;115;p2"/>
          <p:cNvSpPr txBox="1"/>
          <p:nvPr/>
        </p:nvSpPr>
        <p:spPr>
          <a:xfrm>
            <a:off x="8422640" y="2719070"/>
            <a:ext cx="3044190" cy="8915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  <a:t>Contar con una plataforma única para reportar incidencias con foto y ubicación, verificarlas, clasificarlas, derivarlas y hacer seguimiento desde móvil o web.</a:t>
            </a:r>
            <a:endParaRPr/>
          </a:p>
        </p:txBody>
      </p:sp>
      <p:sp>
        <p:nvSpPr>
          <p:cNvPr id="116" name="Google Shape;116;p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2B4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"/>
          <p:cNvSpPr txBox="1"/>
          <p:nvPr/>
        </p:nvSpPr>
        <p:spPr>
          <a:xfrm>
            <a:off x="888365" y="6556375"/>
            <a:ext cx="11247120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2026  |  Ciudad Alerta  |  2</a:t>
            </a:r>
            <a:endParaRPr/>
          </a:p>
        </p:txBody>
      </p:sp>
      <p:pic>
        <p:nvPicPr>
          <p:cNvPr id="118" name="Google Shape;118;p2" title="duocuc_logo_transparent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2761" y="54060"/>
            <a:ext cx="3812724" cy="1226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38190" y="143722"/>
            <a:ext cx="2114550" cy="78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"/>
          <p:cNvSpPr txBox="1"/>
          <p:nvPr/>
        </p:nvSpPr>
        <p:spPr>
          <a:xfrm>
            <a:off x="548640" y="320040"/>
            <a:ext cx="3179268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0F2B4D"/>
                </a:solidFill>
                <a:latin typeface="Calibri"/>
                <a:ea typeface="Calibri"/>
                <a:cs typeface="Calibri"/>
                <a:sym typeface="Calibri"/>
              </a:rPr>
              <a:t>2. Solución propuesta</a:t>
            </a:r>
            <a:endParaRPr/>
          </a:p>
        </p:txBody>
      </p:sp>
      <p:sp>
        <p:nvSpPr>
          <p:cNvPr id="125" name="Google Shape;125;p3"/>
          <p:cNvSpPr txBox="1"/>
          <p:nvPr/>
        </p:nvSpPr>
        <p:spPr>
          <a:xfrm>
            <a:off x="566928" y="914400"/>
            <a:ext cx="295779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Flujo central de Ciudad Alerta</a:t>
            </a:r>
            <a:endParaRPr/>
          </a:p>
        </p:txBody>
      </p:sp>
      <p:sp>
        <p:nvSpPr>
          <p:cNvPr id="126" name="Google Shape;126;p3"/>
          <p:cNvSpPr/>
          <p:nvPr/>
        </p:nvSpPr>
        <p:spPr>
          <a:xfrm>
            <a:off x="685800" y="1828800"/>
            <a:ext cx="2057400" cy="1828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23569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"/>
          <p:cNvSpPr/>
          <p:nvPr/>
        </p:nvSpPr>
        <p:spPr>
          <a:xfrm>
            <a:off x="1399032" y="1993392"/>
            <a:ext cx="640080" cy="640080"/>
          </a:xfrm>
          <a:prstGeom prst="ellipse">
            <a:avLst/>
          </a:prstGeom>
          <a:solidFill>
            <a:srgbClr val="23569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 txBox="1"/>
          <p:nvPr/>
        </p:nvSpPr>
        <p:spPr>
          <a:xfrm>
            <a:off x="1554480" y="2148840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29" name="Google Shape;129;p3"/>
          <p:cNvSpPr txBox="1"/>
          <p:nvPr/>
        </p:nvSpPr>
        <p:spPr>
          <a:xfrm>
            <a:off x="868680" y="2743200"/>
            <a:ext cx="1691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F2B4D"/>
                </a:solidFill>
                <a:latin typeface="Calibri"/>
                <a:ea typeface="Calibri"/>
                <a:cs typeface="Calibri"/>
                <a:sym typeface="Calibri"/>
              </a:rPr>
              <a:t>Reportar</a:t>
            </a:r>
            <a:endParaRPr/>
          </a:p>
        </p:txBody>
      </p:sp>
      <p:sp>
        <p:nvSpPr>
          <p:cNvPr id="130" name="Google Shape;130;p3"/>
          <p:cNvSpPr txBox="1"/>
          <p:nvPr/>
        </p:nvSpPr>
        <p:spPr>
          <a:xfrm>
            <a:off x="894207" y="3196463"/>
            <a:ext cx="173736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69707A"/>
                </a:solidFill>
                <a:latin typeface="Calibri"/>
                <a:ea typeface="Calibri"/>
                <a:cs typeface="Calibri"/>
                <a:sym typeface="Calibri"/>
              </a:rPr>
              <a:t>Foto · ubicación · descripción</a:t>
            </a:r>
            <a:endParaRPr/>
          </a:p>
        </p:txBody>
      </p:sp>
      <p:cxnSp>
        <p:nvCxnSpPr>
          <p:cNvPr id="131" name="Google Shape;131;p3"/>
          <p:cNvCxnSpPr/>
          <p:nvPr/>
        </p:nvCxnSpPr>
        <p:spPr>
          <a:xfrm>
            <a:off x="2743200" y="2743200"/>
            <a:ext cx="777240" cy="0"/>
          </a:xfrm>
          <a:prstGeom prst="straightConnector1">
            <a:avLst/>
          </a:prstGeom>
          <a:noFill/>
          <a:ln cap="flat" cmpd="sng" w="25400">
            <a:solidFill>
              <a:srgbClr val="40963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32" name="Google Shape;132;p3"/>
          <p:cNvSpPr/>
          <p:nvPr/>
        </p:nvSpPr>
        <p:spPr>
          <a:xfrm>
            <a:off x="3520440" y="1828800"/>
            <a:ext cx="2057400" cy="1828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23569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3"/>
          <p:cNvSpPr/>
          <p:nvPr/>
        </p:nvSpPr>
        <p:spPr>
          <a:xfrm>
            <a:off x="4233672" y="1993392"/>
            <a:ext cx="640080" cy="640080"/>
          </a:xfrm>
          <a:prstGeom prst="ellipse">
            <a:avLst/>
          </a:prstGeom>
          <a:solidFill>
            <a:srgbClr val="23569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3"/>
          <p:cNvSpPr txBox="1"/>
          <p:nvPr/>
        </p:nvSpPr>
        <p:spPr>
          <a:xfrm>
            <a:off x="4389120" y="2148840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35" name="Google Shape;135;p3"/>
          <p:cNvSpPr txBox="1"/>
          <p:nvPr/>
        </p:nvSpPr>
        <p:spPr>
          <a:xfrm>
            <a:off x="3703320" y="2743200"/>
            <a:ext cx="1691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F2B4D"/>
                </a:solidFill>
                <a:latin typeface="Calibri"/>
                <a:ea typeface="Calibri"/>
                <a:cs typeface="Calibri"/>
                <a:sym typeface="Calibri"/>
              </a:rPr>
              <a:t>Verificar</a:t>
            </a:r>
            <a:endParaRPr/>
          </a:p>
        </p:txBody>
      </p:sp>
      <p:cxnSp>
        <p:nvCxnSpPr>
          <p:cNvPr id="136" name="Google Shape;136;p3"/>
          <p:cNvCxnSpPr/>
          <p:nvPr/>
        </p:nvCxnSpPr>
        <p:spPr>
          <a:xfrm>
            <a:off x="5577840" y="2743200"/>
            <a:ext cx="777240" cy="0"/>
          </a:xfrm>
          <a:prstGeom prst="straightConnector1">
            <a:avLst/>
          </a:prstGeom>
          <a:noFill/>
          <a:ln cap="flat" cmpd="sng" w="25400">
            <a:solidFill>
              <a:srgbClr val="40963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37" name="Google Shape;137;p3"/>
          <p:cNvSpPr/>
          <p:nvPr/>
        </p:nvSpPr>
        <p:spPr>
          <a:xfrm>
            <a:off x="6355080" y="1828800"/>
            <a:ext cx="2057400" cy="1828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23569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3"/>
          <p:cNvSpPr/>
          <p:nvPr/>
        </p:nvSpPr>
        <p:spPr>
          <a:xfrm>
            <a:off x="7068312" y="1993392"/>
            <a:ext cx="640080" cy="640080"/>
          </a:xfrm>
          <a:prstGeom prst="ellipse">
            <a:avLst/>
          </a:prstGeom>
          <a:solidFill>
            <a:srgbClr val="40963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3"/>
          <p:cNvSpPr txBox="1"/>
          <p:nvPr/>
        </p:nvSpPr>
        <p:spPr>
          <a:xfrm>
            <a:off x="7223760" y="2148840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40" name="Google Shape;140;p3"/>
          <p:cNvSpPr txBox="1"/>
          <p:nvPr/>
        </p:nvSpPr>
        <p:spPr>
          <a:xfrm>
            <a:off x="6537960" y="2743200"/>
            <a:ext cx="1691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F2B4D"/>
                </a:solidFill>
                <a:latin typeface="Calibri"/>
                <a:ea typeface="Calibri"/>
                <a:cs typeface="Calibri"/>
                <a:sym typeface="Calibri"/>
              </a:rPr>
              <a:t>Enrutar</a:t>
            </a:r>
            <a:endParaRPr/>
          </a:p>
        </p:txBody>
      </p:sp>
      <p:sp>
        <p:nvSpPr>
          <p:cNvPr id="141" name="Google Shape;141;p3"/>
          <p:cNvSpPr txBox="1"/>
          <p:nvPr/>
        </p:nvSpPr>
        <p:spPr>
          <a:xfrm>
            <a:off x="6597777" y="3099943"/>
            <a:ext cx="173736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69707A"/>
                </a:solidFill>
                <a:latin typeface="Calibri"/>
                <a:ea typeface="Calibri"/>
                <a:cs typeface="Calibri"/>
                <a:sym typeface="Calibri"/>
              </a:rPr>
              <a:t>Categoría · organismo responsable</a:t>
            </a:r>
            <a:endParaRPr/>
          </a:p>
        </p:txBody>
      </p:sp>
      <p:cxnSp>
        <p:nvCxnSpPr>
          <p:cNvPr id="142" name="Google Shape;142;p3"/>
          <p:cNvCxnSpPr/>
          <p:nvPr/>
        </p:nvCxnSpPr>
        <p:spPr>
          <a:xfrm>
            <a:off x="8412480" y="2743200"/>
            <a:ext cx="777240" cy="0"/>
          </a:xfrm>
          <a:prstGeom prst="straightConnector1">
            <a:avLst/>
          </a:prstGeom>
          <a:noFill/>
          <a:ln cap="flat" cmpd="sng" w="25400">
            <a:solidFill>
              <a:srgbClr val="40963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43" name="Google Shape;143;p3"/>
          <p:cNvSpPr/>
          <p:nvPr/>
        </p:nvSpPr>
        <p:spPr>
          <a:xfrm>
            <a:off x="9189720" y="1828800"/>
            <a:ext cx="2057400" cy="1828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23569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3"/>
          <p:cNvSpPr/>
          <p:nvPr/>
        </p:nvSpPr>
        <p:spPr>
          <a:xfrm>
            <a:off x="9902952" y="1993392"/>
            <a:ext cx="640080" cy="640080"/>
          </a:xfrm>
          <a:prstGeom prst="ellipse">
            <a:avLst/>
          </a:prstGeom>
          <a:solidFill>
            <a:srgbClr val="40963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3"/>
          <p:cNvSpPr txBox="1"/>
          <p:nvPr/>
        </p:nvSpPr>
        <p:spPr>
          <a:xfrm>
            <a:off x="10058400" y="2148840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46" name="Google Shape;146;p3"/>
          <p:cNvSpPr txBox="1"/>
          <p:nvPr/>
        </p:nvSpPr>
        <p:spPr>
          <a:xfrm>
            <a:off x="9372600" y="2743200"/>
            <a:ext cx="1691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F2B4D"/>
                </a:solidFill>
                <a:latin typeface="Calibri"/>
                <a:ea typeface="Calibri"/>
                <a:cs typeface="Calibri"/>
                <a:sym typeface="Calibri"/>
              </a:rPr>
              <a:t>Seguimiento</a:t>
            </a:r>
            <a:endParaRPr/>
          </a:p>
        </p:txBody>
      </p:sp>
      <p:sp>
        <p:nvSpPr>
          <p:cNvPr id="147" name="Google Shape;147;p3"/>
          <p:cNvSpPr txBox="1"/>
          <p:nvPr/>
        </p:nvSpPr>
        <p:spPr>
          <a:xfrm>
            <a:off x="9354312" y="3127248"/>
            <a:ext cx="173736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69707A"/>
                </a:solidFill>
                <a:latin typeface="Calibri"/>
                <a:ea typeface="Calibri"/>
                <a:cs typeface="Calibri"/>
                <a:sym typeface="Calibri"/>
              </a:rPr>
              <a:t>Estado · mapa · trazabilidad</a:t>
            </a:r>
            <a:endParaRPr/>
          </a:p>
        </p:txBody>
      </p:sp>
      <p:sp>
        <p:nvSpPr>
          <p:cNvPr id="148" name="Google Shape;148;p3"/>
          <p:cNvSpPr txBox="1"/>
          <p:nvPr/>
        </p:nvSpPr>
        <p:spPr>
          <a:xfrm>
            <a:off x="1143000" y="5085715"/>
            <a:ext cx="987552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03053"/>
                </a:solidFill>
                <a:latin typeface="Calibri"/>
                <a:ea typeface="Calibri"/>
                <a:cs typeface="Calibri"/>
                <a:sym typeface="Calibri"/>
              </a:rPr>
              <a:t>Ciudad Alerta integra reporte ciudadano, geolocalización, detección de posibles duplicados, validación comunitaria, enrutamiento y seguimiento; además incorpora alertas tempranas inclusivas y reconocimiento por colaboración.</a:t>
            </a:r>
            <a:endParaRPr/>
          </a:p>
        </p:txBody>
      </p:sp>
      <p:sp>
        <p:nvSpPr>
          <p:cNvPr id="149" name="Google Shape;149;p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2B4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3"/>
          <p:cNvSpPr txBox="1"/>
          <p:nvPr/>
        </p:nvSpPr>
        <p:spPr>
          <a:xfrm>
            <a:off x="981710" y="6547485"/>
            <a:ext cx="11210290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2026  |  Ciudad Alerta  |  3</a:t>
            </a:r>
            <a:endParaRPr/>
          </a:p>
        </p:txBody>
      </p:sp>
      <p:sp>
        <p:nvSpPr>
          <p:cNvPr id="151" name="Google Shape;151;p3"/>
          <p:cNvSpPr txBox="1"/>
          <p:nvPr/>
        </p:nvSpPr>
        <p:spPr>
          <a:xfrm>
            <a:off x="3745992" y="3099943"/>
            <a:ext cx="1737360" cy="398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69707A"/>
                </a:solidFill>
                <a:latin typeface="Calibri"/>
                <a:ea typeface="Calibri"/>
                <a:cs typeface="Calibri"/>
                <a:sym typeface="Calibri"/>
              </a:rPr>
              <a:t>Considencias · Confirmación comunitaria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" name="Google Shape;152;p3" title="duocuc_logo_transparent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78971" y="-29272"/>
            <a:ext cx="3812724" cy="1226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9140" y="160238"/>
            <a:ext cx="2114550" cy="78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"/>
          <p:cNvSpPr txBox="1"/>
          <p:nvPr/>
        </p:nvSpPr>
        <p:spPr>
          <a:xfrm>
            <a:off x="566928" y="839470"/>
            <a:ext cx="43915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Lienzo de Propuesta de Valor – Ciudad Alerta</a:t>
            </a:r>
            <a:endParaRPr/>
          </a:p>
        </p:txBody>
      </p:sp>
      <p:sp>
        <p:nvSpPr>
          <p:cNvPr id="159" name="Google Shape;159;p4"/>
          <p:cNvSpPr/>
          <p:nvPr/>
        </p:nvSpPr>
        <p:spPr>
          <a:xfrm>
            <a:off x="6053328" y="1280160"/>
            <a:ext cx="27432" cy="4983480"/>
          </a:xfrm>
          <a:prstGeom prst="rect">
            <a:avLst/>
          </a:prstGeom>
          <a:solidFill>
            <a:srgbClr val="DCE4E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4"/>
          <p:cNvSpPr txBox="1"/>
          <p:nvPr/>
        </p:nvSpPr>
        <p:spPr>
          <a:xfrm>
            <a:off x="777240" y="123444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F2B4D"/>
                </a:solidFill>
                <a:latin typeface="Calibri"/>
                <a:ea typeface="Calibri"/>
                <a:cs typeface="Calibri"/>
                <a:sym typeface="Calibri"/>
              </a:rPr>
              <a:t>PERFIL DEL CLIENTE</a:t>
            </a:r>
            <a:endParaRPr/>
          </a:p>
        </p:txBody>
      </p:sp>
      <p:sp>
        <p:nvSpPr>
          <p:cNvPr id="161" name="Google Shape;161;p4"/>
          <p:cNvSpPr txBox="1"/>
          <p:nvPr/>
        </p:nvSpPr>
        <p:spPr>
          <a:xfrm>
            <a:off x="6355080" y="1234440"/>
            <a:ext cx="4983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F2B4D"/>
                </a:solidFill>
                <a:latin typeface="Calibri"/>
                <a:ea typeface="Calibri"/>
                <a:cs typeface="Calibri"/>
                <a:sym typeface="Calibri"/>
              </a:rPr>
              <a:t>MAPA DE VALOR</a:t>
            </a:r>
            <a:endParaRPr/>
          </a:p>
        </p:txBody>
      </p:sp>
      <p:sp>
        <p:nvSpPr>
          <p:cNvPr id="162" name="Google Shape;162;p4"/>
          <p:cNvSpPr/>
          <p:nvPr/>
        </p:nvSpPr>
        <p:spPr>
          <a:xfrm>
            <a:off x="685800" y="1737360"/>
            <a:ext cx="4983480" cy="1234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4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4"/>
          <p:cNvSpPr/>
          <p:nvPr/>
        </p:nvSpPr>
        <p:spPr>
          <a:xfrm>
            <a:off x="685800" y="1737360"/>
            <a:ext cx="91440" cy="1234440"/>
          </a:xfrm>
          <a:prstGeom prst="rect">
            <a:avLst/>
          </a:prstGeom>
          <a:solidFill>
            <a:srgbClr val="23569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4"/>
          <p:cNvSpPr txBox="1"/>
          <p:nvPr/>
        </p:nvSpPr>
        <p:spPr>
          <a:xfrm>
            <a:off x="868680" y="1874519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F2B4D"/>
                </a:solidFill>
                <a:latin typeface="Calibri"/>
                <a:ea typeface="Calibri"/>
                <a:cs typeface="Calibri"/>
                <a:sym typeface="Calibri"/>
              </a:rPr>
              <a:t>Tareas del usuario</a:t>
            </a:r>
            <a:endParaRPr/>
          </a:p>
        </p:txBody>
      </p:sp>
      <p:sp>
        <p:nvSpPr>
          <p:cNvPr id="165" name="Google Shape;165;p4"/>
          <p:cNvSpPr txBox="1"/>
          <p:nvPr/>
        </p:nvSpPr>
        <p:spPr>
          <a:xfrm>
            <a:off x="887095" y="2168398"/>
            <a:ext cx="4663440" cy="5988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  <a:t>Reportar problemas urbanos, aportar evidencia, consultar su estado, verificar incidencias cercanas y recibir alertas preventivas sobre condiciones que puedan afectar su entorno.</a:t>
            </a:r>
            <a:endParaRPr/>
          </a:p>
        </p:txBody>
      </p:sp>
      <p:sp>
        <p:nvSpPr>
          <p:cNvPr id="166" name="Google Shape;166;p4"/>
          <p:cNvSpPr/>
          <p:nvPr/>
        </p:nvSpPr>
        <p:spPr>
          <a:xfrm>
            <a:off x="685800" y="3200400"/>
            <a:ext cx="4983480" cy="1234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4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4"/>
          <p:cNvSpPr/>
          <p:nvPr/>
        </p:nvSpPr>
        <p:spPr>
          <a:xfrm>
            <a:off x="685800" y="3200400"/>
            <a:ext cx="91440" cy="1234440"/>
          </a:xfrm>
          <a:prstGeom prst="rect">
            <a:avLst/>
          </a:prstGeom>
          <a:solidFill>
            <a:srgbClr val="B4414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4"/>
          <p:cNvSpPr txBox="1"/>
          <p:nvPr/>
        </p:nvSpPr>
        <p:spPr>
          <a:xfrm>
            <a:off x="868680" y="3337560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F2B4D"/>
                </a:solidFill>
                <a:latin typeface="Calibri"/>
                <a:ea typeface="Calibri"/>
                <a:cs typeface="Calibri"/>
                <a:sym typeface="Calibri"/>
              </a:rPr>
              <a:t>Dolores</a:t>
            </a:r>
            <a:endParaRPr/>
          </a:p>
        </p:txBody>
      </p:sp>
      <p:sp>
        <p:nvSpPr>
          <p:cNvPr id="169" name="Google Shape;169;p4"/>
          <p:cNvSpPr txBox="1"/>
          <p:nvPr/>
        </p:nvSpPr>
        <p:spPr>
          <a:xfrm>
            <a:off x="1005840" y="3624453"/>
            <a:ext cx="4663440" cy="5988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  <a:t>Canales dispersos, desconocimiento del responsable, falta de seguimiento y escasa información anticipada sobre situaciones que pueden afectar la movilidad y accesibilidad.</a:t>
            </a:r>
            <a:endParaRPr/>
          </a:p>
        </p:txBody>
      </p:sp>
      <p:sp>
        <p:nvSpPr>
          <p:cNvPr id="170" name="Google Shape;170;p4"/>
          <p:cNvSpPr/>
          <p:nvPr/>
        </p:nvSpPr>
        <p:spPr>
          <a:xfrm>
            <a:off x="685800" y="4663440"/>
            <a:ext cx="4983480" cy="1234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4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4"/>
          <p:cNvSpPr/>
          <p:nvPr/>
        </p:nvSpPr>
        <p:spPr>
          <a:xfrm>
            <a:off x="685800" y="4663440"/>
            <a:ext cx="91440" cy="1234440"/>
          </a:xfrm>
          <a:prstGeom prst="rect">
            <a:avLst/>
          </a:prstGeom>
          <a:solidFill>
            <a:srgbClr val="40963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4"/>
          <p:cNvSpPr txBox="1"/>
          <p:nvPr/>
        </p:nvSpPr>
        <p:spPr>
          <a:xfrm>
            <a:off x="868680" y="4800600"/>
            <a:ext cx="4709160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F2B4D"/>
                </a:solidFill>
                <a:latin typeface="Calibri"/>
                <a:ea typeface="Calibri"/>
                <a:cs typeface="Calibri"/>
                <a:sym typeface="Calibri"/>
              </a:rPr>
              <a:t>Ganancias esperadas</a:t>
            </a:r>
            <a:endParaRPr/>
          </a:p>
        </p:txBody>
      </p:sp>
      <p:sp>
        <p:nvSpPr>
          <p:cNvPr id="173" name="Google Shape;173;p4"/>
          <p:cNvSpPr txBox="1"/>
          <p:nvPr/>
        </p:nvSpPr>
        <p:spPr>
          <a:xfrm>
            <a:off x="887095" y="5080508"/>
            <a:ext cx="4663440" cy="6915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  <a:t>Reporte simple, seguimiento visible, información accesible y alertas preventivas que permitan anticipar condiciones del entorno y planificar alternativas.</a:t>
            </a:r>
            <a:endParaRPr/>
          </a:p>
        </p:txBody>
      </p:sp>
      <p:sp>
        <p:nvSpPr>
          <p:cNvPr id="174" name="Google Shape;174;p4"/>
          <p:cNvSpPr/>
          <p:nvPr/>
        </p:nvSpPr>
        <p:spPr>
          <a:xfrm>
            <a:off x="6355080" y="1737360"/>
            <a:ext cx="5074920" cy="1234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4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4"/>
          <p:cNvSpPr/>
          <p:nvPr/>
        </p:nvSpPr>
        <p:spPr>
          <a:xfrm>
            <a:off x="6355080" y="1737360"/>
            <a:ext cx="91440" cy="1234440"/>
          </a:xfrm>
          <a:prstGeom prst="rect">
            <a:avLst/>
          </a:prstGeom>
          <a:solidFill>
            <a:srgbClr val="0F2B4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4"/>
          <p:cNvSpPr txBox="1"/>
          <p:nvPr/>
        </p:nvSpPr>
        <p:spPr>
          <a:xfrm>
            <a:off x="6537960" y="1874519"/>
            <a:ext cx="4800600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F2B4D"/>
                </a:solidFill>
                <a:latin typeface="Calibri"/>
                <a:ea typeface="Calibri"/>
                <a:cs typeface="Calibri"/>
                <a:sym typeface="Calibri"/>
              </a:rPr>
              <a:t>Productos y servicios</a:t>
            </a:r>
            <a:endParaRPr/>
          </a:p>
        </p:txBody>
      </p:sp>
      <p:sp>
        <p:nvSpPr>
          <p:cNvPr id="177" name="Google Shape;177;p4"/>
          <p:cNvSpPr txBox="1"/>
          <p:nvPr/>
        </p:nvSpPr>
        <p:spPr>
          <a:xfrm>
            <a:off x="6556375" y="2235708"/>
            <a:ext cx="4754880" cy="5988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  <a:t>Aplicación móvil y portal web, reportes geolocalizados, mapa urbano, verificación comunitaria, seguimiento, panel de gestión y alertas tempranas inclusivas.</a:t>
            </a:r>
            <a:endParaRPr/>
          </a:p>
        </p:txBody>
      </p:sp>
      <p:sp>
        <p:nvSpPr>
          <p:cNvPr id="178" name="Google Shape;178;p4"/>
          <p:cNvSpPr/>
          <p:nvPr/>
        </p:nvSpPr>
        <p:spPr>
          <a:xfrm>
            <a:off x="6355080" y="3200400"/>
            <a:ext cx="5074920" cy="1234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4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4"/>
          <p:cNvSpPr/>
          <p:nvPr/>
        </p:nvSpPr>
        <p:spPr>
          <a:xfrm>
            <a:off x="6355080" y="3200400"/>
            <a:ext cx="91440" cy="1234440"/>
          </a:xfrm>
          <a:prstGeom prst="rect">
            <a:avLst/>
          </a:prstGeom>
          <a:solidFill>
            <a:srgbClr val="40963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4"/>
          <p:cNvSpPr txBox="1"/>
          <p:nvPr/>
        </p:nvSpPr>
        <p:spPr>
          <a:xfrm>
            <a:off x="6537960" y="3337560"/>
            <a:ext cx="4800600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F2B4D"/>
                </a:solidFill>
                <a:latin typeface="Calibri"/>
                <a:ea typeface="Calibri"/>
                <a:cs typeface="Calibri"/>
                <a:sym typeface="Calibri"/>
              </a:rPr>
              <a:t>Aliviadores del dolor</a:t>
            </a:r>
            <a:endParaRPr/>
          </a:p>
        </p:txBody>
      </p:sp>
      <p:sp>
        <p:nvSpPr>
          <p:cNvPr id="181" name="Google Shape;181;p4"/>
          <p:cNvSpPr txBox="1"/>
          <p:nvPr/>
        </p:nvSpPr>
        <p:spPr>
          <a:xfrm>
            <a:off x="6556375" y="3686683"/>
            <a:ext cx="4754880" cy="4298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  <a:t>Centraliza los reportes, reduce duplicidades, orienta su derivación, mantiene trazabilidad y entrega información preventiva sobre situaciones del entorno.</a:t>
            </a:r>
            <a:endParaRPr/>
          </a:p>
        </p:txBody>
      </p:sp>
      <p:sp>
        <p:nvSpPr>
          <p:cNvPr id="182" name="Google Shape;182;p4"/>
          <p:cNvSpPr/>
          <p:nvPr/>
        </p:nvSpPr>
        <p:spPr>
          <a:xfrm>
            <a:off x="6355080" y="4663440"/>
            <a:ext cx="5074920" cy="1234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4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4"/>
          <p:cNvSpPr/>
          <p:nvPr/>
        </p:nvSpPr>
        <p:spPr>
          <a:xfrm>
            <a:off x="6355080" y="4663440"/>
            <a:ext cx="91440" cy="1234440"/>
          </a:xfrm>
          <a:prstGeom prst="rect">
            <a:avLst/>
          </a:prstGeom>
          <a:solidFill>
            <a:srgbClr val="23569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4"/>
          <p:cNvSpPr txBox="1"/>
          <p:nvPr/>
        </p:nvSpPr>
        <p:spPr>
          <a:xfrm>
            <a:off x="6537960" y="4800600"/>
            <a:ext cx="4800600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F2B4D"/>
                </a:solidFill>
                <a:latin typeface="Calibri"/>
                <a:ea typeface="Calibri"/>
                <a:cs typeface="Calibri"/>
                <a:sym typeface="Calibri"/>
              </a:rPr>
              <a:t>Creadores de valor</a:t>
            </a:r>
            <a:endParaRPr/>
          </a:p>
        </p:txBody>
      </p:sp>
      <p:sp>
        <p:nvSpPr>
          <p:cNvPr id="185" name="Google Shape;185;p4"/>
          <p:cNvSpPr txBox="1"/>
          <p:nvPr/>
        </p:nvSpPr>
        <p:spPr>
          <a:xfrm>
            <a:off x="6556375" y="5166233"/>
            <a:ext cx="4754880" cy="5988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  <a:t>Participación ciudadana, información territorial, prevención inclusiva, accesibilidad y seguimiento transparente para apoyar decisiones y anticipar situaciones de riesgo.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2B4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4"/>
          <p:cNvSpPr txBox="1"/>
          <p:nvPr/>
        </p:nvSpPr>
        <p:spPr>
          <a:xfrm>
            <a:off x="953770" y="6528435"/>
            <a:ext cx="11238230" cy="3384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2026  |  Ciudad Alerta  |  4</a:t>
            </a:r>
            <a:endParaRPr/>
          </a:p>
        </p:txBody>
      </p:sp>
      <p:pic>
        <p:nvPicPr>
          <p:cNvPr id="188" name="Google Shape;18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54985" y="-99740"/>
            <a:ext cx="3816427" cy="1225402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4"/>
          <p:cNvSpPr txBox="1"/>
          <p:nvPr/>
        </p:nvSpPr>
        <p:spPr>
          <a:xfrm>
            <a:off x="549542" y="196400"/>
            <a:ext cx="3250465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0F2B4D"/>
                </a:solidFill>
                <a:latin typeface="Calibri"/>
                <a:ea typeface="Calibri"/>
                <a:cs typeface="Calibri"/>
                <a:sym typeface="Calibri"/>
              </a:rPr>
              <a:t>3. Propuesta de Valor</a:t>
            </a:r>
            <a:endParaRPr/>
          </a:p>
        </p:txBody>
      </p:sp>
      <p:pic>
        <p:nvPicPr>
          <p:cNvPr id="190" name="Google Shape;19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14156" y="0"/>
            <a:ext cx="2114550" cy="78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5"/>
          <p:cNvSpPr txBox="1"/>
          <p:nvPr/>
        </p:nvSpPr>
        <p:spPr>
          <a:xfrm>
            <a:off x="384048" y="228600"/>
            <a:ext cx="6302366" cy="477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0A3259"/>
                </a:solidFill>
                <a:latin typeface="Arial"/>
                <a:ea typeface="Arial"/>
                <a:cs typeface="Arial"/>
                <a:sym typeface="Arial"/>
              </a:rPr>
              <a:t>3.1 Customer Journey Map – Ciudad Alerta</a:t>
            </a:r>
            <a:endParaRPr/>
          </a:p>
        </p:txBody>
      </p:sp>
      <p:sp>
        <p:nvSpPr>
          <p:cNvPr id="196" name="Google Shape;196;p5"/>
          <p:cNvSpPr txBox="1"/>
          <p:nvPr/>
        </p:nvSpPr>
        <p:spPr>
          <a:xfrm>
            <a:off x="393192" y="786384"/>
            <a:ext cx="613174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56606C"/>
                </a:solidFill>
                <a:latin typeface="Calibri"/>
                <a:ea typeface="Calibri"/>
                <a:cs typeface="Calibri"/>
                <a:sym typeface="Calibri"/>
              </a:rPr>
              <a:t>Recorrido del ciudadano desde el descubrimiento hasta la participación sostenida</a:t>
            </a:r>
            <a:endParaRPr/>
          </a:p>
        </p:txBody>
      </p:sp>
      <p:graphicFrame>
        <p:nvGraphicFramePr>
          <p:cNvPr id="197" name="Google Shape;197;p5"/>
          <p:cNvGraphicFramePr/>
          <p:nvPr/>
        </p:nvGraphicFramePr>
        <p:xfrm>
          <a:off x="384175" y="11607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{986D1AD0-DED9-4A29-98C2-E7826B8A0A00}</a:tableStyleId>
              </a:tblPr>
              <a:tblGrid>
                <a:gridCol w="1691650"/>
                <a:gridCol w="2148850"/>
                <a:gridCol w="2926075"/>
                <a:gridCol w="4645025"/>
              </a:tblGrid>
              <a:tr h="39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ETAPA</a:t>
                      </a:r>
                      <a:endParaRPr/>
                    </a:p>
                  </a:txBody>
                  <a:tcPr marT="45725" marB="36575" marR="73150" marL="73150">
                    <a:solidFill>
                      <a:srgbClr val="2F5F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EMOCIÓN</a:t>
                      </a:r>
                      <a:endParaRPr/>
                    </a:p>
                  </a:txBody>
                  <a:tcPr marT="45725" marB="36575" marR="73150" marL="73150">
                    <a:solidFill>
                      <a:srgbClr val="41A0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PUNTO DE CONTACTO</a:t>
                      </a:r>
                      <a:endParaRPr/>
                    </a:p>
                  </a:txBody>
                  <a:tcPr marT="45725" marB="36575" marR="73150" marL="73150">
                    <a:solidFill>
                      <a:srgbClr val="41A0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ACCIÓN</a:t>
                      </a:r>
                      <a:endParaRPr/>
                    </a:p>
                  </a:txBody>
                  <a:tcPr marT="45725" marB="36575" marR="73150" marL="73150">
                    <a:solidFill>
                      <a:srgbClr val="41A048"/>
                    </a:solidFill>
                  </a:tcPr>
                </a:tc>
              </a:tr>
              <a:tr h="742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DESCUBRIMIENTO</a:t>
                      </a:r>
                      <a:endParaRPr/>
                    </a:p>
                  </a:txBody>
                  <a:tcPr marT="45725" marB="36575" marR="73150" marL="73150" anchor="ctr">
                    <a:solidFill>
                      <a:srgbClr val="ECF4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Curiosidad e interés</a:t>
                      </a:r>
                      <a:endParaRPr/>
                    </a:p>
                  </a:txBody>
                  <a:tcPr marT="45725" marB="36575" marR="73150" marL="7315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Redes sociales · QR · web · difusión comunitaria</a:t>
                      </a:r>
                      <a:endParaRPr/>
                    </a:p>
                  </a:txBody>
                  <a:tcPr marT="45725" marB="36575" marR="73150" marL="7315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Conoce Ciudad Alerta y descubre que puede consultar y reportar incidencias urbanas.</a:t>
                      </a:r>
                      <a:endParaRPr/>
                    </a:p>
                  </a:txBody>
                  <a:tcPr marT="45725" marB="36575" marR="73150" marL="73150" anchor="ctr">
                    <a:solidFill>
                      <a:srgbClr val="F7F9FC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CONSIDERACIÓN</a:t>
                      </a:r>
                      <a:endParaRPr/>
                    </a:p>
                  </a:txBody>
                  <a:tcPr marT="45725" marB="36575" marR="73150" marL="73150" anchor="ctr">
                    <a:solidFill>
                      <a:srgbClr val="ECF4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Interés, expectativa y dudas</a:t>
                      </a:r>
                      <a:endParaRPr/>
                    </a:p>
                  </a:txBody>
                  <a:tcPr marT="45725" marB="36575" marR="73150" marL="7315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Demo · mapa · información del proyecto</a:t>
                      </a:r>
                      <a:endParaRPr/>
                    </a:p>
                  </a:txBody>
                  <a:tcPr marT="45725" marB="36575" marR="73150" marL="7315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Revisa reportes, geolocalización, alertas, seguimiento y utilidad de la aplicación.</a:t>
                      </a:r>
                      <a:endParaRPr/>
                    </a:p>
                  </a:txBody>
                  <a:tcPr marT="45725" marB="36575" marR="73150" marL="73150" anchor="ctr">
                    <a:solidFill>
                      <a:srgbClr val="F7F9FC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DECISIÓN</a:t>
                      </a:r>
                      <a:endParaRPr/>
                    </a:p>
                  </a:txBody>
                  <a:tcPr marT="45725" marB="36575" marR="73150" marL="73150" anchor="ctr">
                    <a:solidFill>
                      <a:srgbClr val="ECF4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Confianza y motivación</a:t>
                      </a:r>
                      <a:endParaRPr/>
                    </a:p>
                  </a:txBody>
                  <a:tcPr marT="45725" marB="36575" marR="73150" marL="7315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Registro · inicio de sesión · preferencias</a:t>
                      </a:r>
                      <a:endParaRPr/>
                    </a:p>
                  </a:txBody>
                  <a:tcPr marT="45725" marB="36575" marR="73150" marL="7315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 su cuenta, configura preferencias y selecciona las alertas que desea recibir.</a:t>
                      </a:r>
                      <a:endParaRPr/>
                    </a:p>
                  </a:txBody>
                  <a:tcPr marT="45725" marB="36575" marR="73150" marL="73150" anchor="ctr">
                    <a:solidFill>
                      <a:srgbClr val="F7F9FC"/>
                    </a:solidFill>
                  </a:tcPr>
                </a:tc>
              </a:tr>
              <a:tr h="741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REPORTE Y VALIDACIÓN</a:t>
                      </a:r>
                      <a:endParaRPr/>
                    </a:p>
                  </a:txBody>
                  <a:tcPr marT="45725" marB="36575" marR="73150" marL="73150" anchor="ctr">
                    <a:solidFill>
                      <a:srgbClr val="ECF4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Participación y responsabilidad</a:t>
                      </a:r>
                      <a:endParaRPr/>
                    </a:p>
                  </a:txBody>
                  <a:tcPr marT="45725" marB="36575" marR="73150" marL="7315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Formulario · cámara · GPS · coincidencias</a:t>
                      </a:r>
                      <a:endParaRPr/>
                    </a:p>
                  </a:txBody>
                  <a:tcPr marT="45725" marB="36575" marR="73150" marL="7315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Reporta una incidencia; si existe una similar, puede confirmarla y evitar duplicados.</a:t>
                      </a:r>
                      <a:endParaRPr/>
                    </a:p>
                  </a:txBody>
                  <a:tcPr marT="45725" marB="36575" marR="73150" marL="73150" anchor="ctr">
                    <a:solidFill>
                      <a:srgbClr val="F7F9FC"/>
                    </a:solidFill>
                  </a:tcPr>
                </a:tc>
              </a:tr>
              <a:tr h="742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SEGUIMIENTO</a:t>
                      </a:r>
                      <a:endParaRPr/>
                    </a:p>
                  </a:txBody>
                  <a:tcPr marT="45725" marB="36575" marR="73150" marL="73150" anchor="ctr">
                    <a:solidFill>
                      <a:srgbClr val="ECF4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Confianza e interés por el resultado</a:t>
                      </a:r>
                      <a:endParaRPr/>
                    </a:p>
                  </a:txBody>
                  <a:tcPr marT="45725" marB="36575" marR="73150" marL="7315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Notificaciones · mapa · historial · estado</a:t>
                      </a:r>
                      <a:endParaRPr/>
                    </a:p>
                  </a:txBody>
                  <a:tcPr marT="45725" marB="36575" marR="73150" marL="7315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Consulta confirmaciones, derivación, avance y cierre; también recibe alertas preventivas.</a:t>
                      </a:r>
                      <a:endParaRPr/>
                    </a:p>
                  </a:txBody>
                  <a:tcPr marT="45725" marB="36575" marR="73150" marL="73150" anchor="ctr">
                    <a:solidFill>
                      <a:srgbClr val="F7F9FC"/>
                    </a:solidFill>
                  </a:tcPr>
                </a:tc>
              </a:tr>
              <a:tr h="742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FIDELIZACIÓN</a:t>
                      </a:r>
                      <a:endParaRPr/>
                    </a:p>
                  </a:txBody>
                  <a:tcPr marT="45725" marB="36575" marR="73150" marL="73150" anchor="ctr">
                    <a:solidFill>
                      <a:srgbClr val="ECF4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Satisfacción y pertenencia</a:t>
                      </a:r>
                      <a:endParaRPr/>
                    </a:p>
                  </a:txBody>
                  <a:tcPr marT="45725" marB="36575" marR="73150" marL="7315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Perfil · historial · reconocimientos</a:t>
                      </a:r>
                      <a:endParaRPr/>
                    </a:p>
                  </a:txBody>
                  <a:tcPr marT="45725" marB="36575" marR="73150" marL="7315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Recibe reconocimiento por aportes validados y continúa colaborando con la comunidad.</a:t>
                      </a:r>
                      <a:endParaRPr/>
                    </a:p>
                  </a:txBody>
                  <a:tcPr marT="45725" marB="36575" marR="73150" marL="73150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98" name="Google Shape;198;p5"/>
          <p:cNvSpPr txBox="1"/>
          <p:nvPr/>
        </p:nvSpPr>
        <p:spPr>
          <a:xfrm>
            <a:off x="4200008" y="6153785"/>
            <a:ext cx="365253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41A048"/>
                </a:solidFill>
                <a:latin typeface="Arial"/>
                <a:ea typeface="Arial"/>
                <a:cs typeface="Arial"/>
                <a:sym typeface="Arial"/>
              </a:rPr>
              <a:t>Ciudad Alerta · Reporta · Verifica · Conecta</a:t>
            </a:r>
            <a:endParaRPr/>
          </a:p>
        </p:txBody>
      </p:sp>
      <p:sp>
        <p:nvSpPr>
          <p:cNvPr id="199" name="Google Shape;199;p5"/>
          <p:cNvSpPr txBox="1"/>
          <p:nvPr/>
        </p:nvSpPr>
        <p:spPr>
          <a:xfrm>
            <a:off x="0" y="6537960"/>
            <a:ext cx="12192000" cy="348615"/>
          </a:xfrm>
          <a:prstGeom prst="rect">
            <a:avLst/>
          </a:prstGeom>
          <a:solidFill>
            <a:srgbClr val="0F2B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2026  |  Ciudad Alerta  |  5</a:t>
            </a:r>
            <a:endParaRPr/>
          </a:p>
        </p:txBody>
      </p:sp>
      <p:pic>
        <p:nvPicPr>
          <p:cNvPr id="200" name="Google Shape;20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75573" y="-196555"/>
            <a:ext cx="3816427" cy="12254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7"/>
          <p:cNvSpPr txBox="1"/>
          <p:nvPr/>
        </p:nvSpPr>
        <p:spPr>
          <a:xfrm>
            <a:off x="0" y="6537960"/>
            <a:ext cx="12192000" cy="348615"/>
          </a:xfrm>
          <a:prstGeom prst="rect">
            <a:avLst/>
          </a:prstGeom>
          <a:solidFill>
            <a:srgbClr val="0F2B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2026  |  Ciudad Alerta  |  6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6" name="Google Shape;20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350" y="280035"/>
            <a:ext cx="12058650" cy="625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8"/>
          <p:cNvSpPr/>
          <p:nvPr/>
        </p:nvSpPr>
        <p:spPr>
          <a:xfrm>
            <a:off x="817250" y="2281687"/>
            <a:ext cx="1404372" cy="1488440"/>
          </a:xfrm>
          <a:prstGeom prst="roundRect">
            <a:avLst>
              <a:gd fmla="val 16667" name="adj"/>
            </a:avLst>
          </a:prstGeom>
          <a:solidFill>
            <a:srgbClr val="FFF7E1"/>
          </a:solidFill>
          <a:ln cap="flat" cmpd="sng" w="9525">
            <a:solidFill>
              <a:srgbClr val="DC91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Reportado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2794883" y="2281687"/>
            <a:ext cx="1329685" cy="1488440"/>
          </a:xfrm>
          <a:prstGeom prst="roundRect">
            <a:avLst>
              <a:gd fmla="val 16667" name="adj"/>
            </a:avLst>
          </a:prstGeom>
          <a:solidFill>
            <a:srgbClr val="FFF7E1"/>
          </a:solidFill>
          <a:ln cap="flat" cmpd="sng" w="9525">
            <a:solidFill>
              <a:srgbClr val="DC91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revisión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4804763" y="2281687"/>
            <a:ext cx="1329685" cy="1488440"/>
          </a:xfrm>
          <a:prstGeom prst="roundRect">
            <a:avLst>
              <a:gd fmla="val 16667" name="adj"/>
            </a:avLst>
          </a:prstGeom>
          <a:solidFill>
            <a:srgbClr val="FFF7E1"/>
          </a:solidFill>
          <a:ln cap="flat" cmpd="sng" w="9525">
            <a:solidFill>
              <a:srgbClr val="DC91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Derivado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6829328" y="2281687"/>
            <a:ext cx="1329685" cy="1488440"/>
          </a:xfrm>
          <a:prstGeom prst="roundRect">
            <a:avLst>
              <a:gd fmla="val 16667" name="adj"/>
            </a:avLst>
          </a:prstGeom>
          <a:solidFill>
            <a:srgbClr val="FFF7E1"/>
          </a:solidFill>
          <a:ln cap="flat" cmpd="sng" w="9525">
            <a:solidFill>
              <a:srgbClr val="DC91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proceso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8732274" y="2281687"/>
            <a:ext cx="1329685" cy="1488440"/>
          </a:xfrm>
          <a:prstGeom prst="roundRect">
            <a:avLst>
              <a:gd fmla="val 16667" name="adj"/>
            </a:avLst>
          </a:prstGeom>
          <a:solidFill>
            <a:srgbClr val="FFF7E1"/>
          </a:solidFill>
          <a:ln cap="flat" cmpd="sng" w="9525">
            <a:solidFill>
              <a:srgbClr val="DC91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Resuelto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10517433" y="2281687"/>
            <a:ext cx="1329685" cy="1488440"/>
          </a:xfrm>
          <a:prstGeom prst="roundRect">
            <a:avLst>
              <a:gd fmla="val 16667" name="adj"/>
            </a:avLst>
          </a:prstGeom>
          <a:solidFill>
            <a:srgbClr val="FFF7E1"/>
          </a:solidFill>
          <a:ln cap="flat" cmpd="sng" w="9525">
            <a:solidFill>
              <a:srgbClr val="DC91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Cerrado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 txBox="1"/>
          <p:nvPr/>
        </p:nvSpPr>
        <p:spPr>
          <a:xfrm>
            <a:off x="3944110" y="493440"/>
            <a:ext cx="3896983" cy="477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0A3259"/>
                </a:solidFill>
                <a:latin typeface="Arial"/>
                <a:ea typeface="Arial"/>
                <a:cs typeface="Arial"/>
                <a:sym typeface="Arial"/>
              </a:rPr>
              <a:t>ESTADOS DE INCIDENCIA</a:t>
            </a:r>
            <a:endParaRPr/>
          </a:p>
        </p:txBody>
      </p:sp>
      <p:pic>
        <p:nvPicPr>
          <p:cNvPr id="218" name="Google Shape;21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632" y="2453633"/>
            <a:ext cx="598868" cy="4928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77064" y="2544424"/>
            <a:ext cx="324387" cy="40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40668" y="2489085"/>
            <a:ext cx="288856" cy="3272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90188" y="2431952"/>
            <a:ext cx="369582" cy="3695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842391" y="2424621"/>
            <a:ext cx="320841" cy="3208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635220" y="2402489"/>
            <a:ext cx="266756" cy="34297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4" name="Google Shape;224;p8"/>
          <p:cNvCxnSpPr>
            <a:endCxn id="212" idx="1"/>
          </p:cNvCxnSpPr>
          <p:nvPr/>
        </p:nvCxnSpPr>
        <p:spPr>
          <a:xfrm flipH="1" rot="10800000">
            <a:off x="2221583" y="3025907"/>
            <a:ext cx="573300" cy="69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25" name="Google Shape;225;p8"/>
          <p:cNvCxnSpPr>
            <a:endCxn id="213" idx="1"/>
          </p:cNvCxnSpPr>
          <p:nvPr/>
        </p:nvCxnSpPr>
        <p:spPr>
          <a:xfrm flipH="1" rot="10800000">
            <a:off x="4124663" y="3025907"/>
            <a:ext cx="680100" cy="69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26" name="Google Shape;226;p8"/>
          <p:cNvCxnSpPr>
            <a:endCxn id="214" idx="1"/>
          </p:cNvCxnSpPr>
          <p:nvPr/>
        </p:nvCxnSpPr>
        <p:spPr>
          <a:xfrm flipH="1" rot="10800000">
            <a:off x="6134528" y="3025907"/>
            <a:ext cx="694800" cy="153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27" name="Google Shape;227;p8"/>
          <p:cNvCxnSpPr>
            <a:endCxn id="215" idx="1"/>
          </p:cNvCxnSpPr>
          <p:nvPr/>
        </p:nvCxnSpPr>
        <p:spPr>
          <a:xfrm>
            <a:off x="8164674" y="3024707"/>
            <a:ext cx="567600" cy="12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28" name="Google Shape;228;p8"/>
          <p:cNvCxnSpPr>
            <a:stCxn id="215" idx="3"/>
            <a:endCxn id="216" idx="1"/>
          </p:cNvCxnSpPr>
          <p:nvPr/>
        </p:nvCxnSpPr>
        <p:spPr>
          <a:xfrm>
            <a:off x="10061959" y="3025907"/>
            <a:ext cx="455400" cy="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29" name="Google Shape;229;p8"/>
          <p:cNvSpPr/>
          <p:nvPr/>
        </p:nvSpPr>
        <p:spPr>
          <a:xfrm>
            <a:off x="4912392" y="3993782"/>
            <a:ext cx="2694635" cy="2431352"/>
          </a:xfrm>
          <a:prstGeom prst="roundRect">
            <a:avLst>
              <a:gd fmla="val 16667" name="adj"/>
            </a:avLst>
          </a:prstGeom>
          <a:solidFill>
            <a:srgbClr val="FFF7E1"/>
          </a:solidFill>
          <a:ln cap="flat" cmpd="sng" w="9525">
            <a:solidFill>
              <a:srgbClr val="DC91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Datos Principales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Usuario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Ubicación(GPS)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Categoría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Evidencia (Foto)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Fecha y hora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Estado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Responsable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Prioridad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 txBox="1"/>
          <p:nvPr/>
        </p:nvSpPr>
        <p:spPr>
          <a:xfrm>
            <a:off x="3396717" y="1201493"/>
            <a:ext cx="5475462" cy="477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0A3259"/>
                </a:solidFill>
                <a:latin typeface="Arial"/>
                <a:ea typeface="Arial"/>
                <a:cs typeface="Arial"/>
                <a:sym typeface="Arial"/>
              </a:rPr>
              <a:t>Gestión de Incidencias Urbanas</a:t>
            </a:r>
            <a:endParaRPr/>
          </a:p>
        </p:txBody>
      </p:sp>
      <p:pic>
        <p:nvPicPr>
          <p:cNvPr id="231" name="Google Shape;231;p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48470" y="-254908"/>
            <a:ext cx="3816427" cy="1225402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8"/>
          <p:cNvSpPr txBox="1"/>
          <p:nvPr/>
        </p:nvSpPr>
        <p:spPr>
          <a:xfrm>
            <a:off x="0" y="6537960"/>
            <a:ext cx="12192000" cy="348615"/>
          </a:xfrm>
          <a:prstGeom prst="rect">
            <a:avLst/>
          </a:prstGeom>
          <a:solidFill>
            <a:srgbClr val="0F2B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2026  |  Ciudad Alerta  |  7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3" name="Google Shape;233;p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7072" y="95821"/>
            <a:ext cx="2114550" cy="78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9"/>
          <p:cNvSpPr txBox="1"/>
          <p:nvPr/>
        </p:nvSpPr>
        <p:spPr>
          <a:xfrm>
            <a:off x="640080" y="320040"/>
            <a:ext cx="6939913" cy="507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2375B"/>
                </a:solidFill>
                <a:latin typeface="Calibri"/>
                <a:ea typeface="Calibri"/>
                <a:cs typeface="Calibri"/>
                <a:sym typeface="Calibri"/>
              </a:rPr>
              <a:t>3.2 Valor diferencial: Alerta Temprana Inclusiva</a:t>
            </a:r>
            <a:endParaRPr/>
          </a:p>
        </p:txBody>
      </p:sp>
      <p:sp>
        <p:nvSpPr>
          <p:cNvPr id="239" name="Google Shape;239;p9"/>
          <p:cNvSpPr txBox="1"/>
          <p:nvPr/>
        </p:nvSpPr>
        <p:spPr>
          <a:xfrm>
            <a:off x="640080" y="868680"/>
            <a:ext cx="7544566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646E78"/>
                </a:solidFill>
                <a:latin typeface="Calibri"/>
                <a:ea typeface="Calibri"/>
                <a:cs typeface="Calibri"/>
                <a:sym typeface="Calibri"/>
              </a:rPr>
              <a:t>Ciudad Alerta evoluciona desde una solución reactiva hacia una plataforma preventiva, territorial e inclusiva.</a:t>
            </a:r>
            <a:endParaRPr/>
          </a:p>
        </p:txBody>
      </p:sp>
      <p:sp>
        <p:nvSpPr>
          <p:cNvPr id="240" name="Google Shape;240;p9"/>
          <p:cNvSpPr/>
          <p:nvPr/>
        </p:nvSpPr>
        <p:spPr>
          <a:xfrm>
            <a:off x="685800" y="1508760"/>
            <a:ext cx="2240280" cy="20574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12375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12375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12375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2375B"/>
                </a:solidFill>
                <a:latin typeface="Calibri"/>
                <a:ea typeface="Calibri"/>
                <a:cs typeface="Calibri"/>
                <a:sym typeface="Calibri"/>
              </a:rPr>
              <a:t>Fuente de alerta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2375B"/>
                </a:solidFill>
                <a:latin typeface="Calibri"/>
                <a:ea typeface="Calibri"/>
                <a:cs typeface="Calibri"/>
                <a:sym typeface="Calibri"/>
              </a:rPr>
              <a:t>Cortes de energía o agua, fallas de accesibilidad, vías bloqueadas y cierres programados.</a:t>
            </a:r>
            <a:br>
              <a:rPr lang="en-US" sz="1100">
                <a:solidFill>
                  <a:srgbClr val="3C4146"/>
                </a:solidFill>
                <a:highlight>
                  <a:srgbClr val="00FFFF"/>
                </a:highlight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na</a:t>
            </a:r>
            <a:endParaRPr/>
          </a:p>
        </p:txBody>
      </p:sp>
      <p:sp>
        <p:nvSpPr>
          <p:cNvPr id="241" name="Google Shape;241;p9"/>
          <p:cNvSpPr/>
          <p:nvPr/>
        </p:nvSpPr>
        <p:spPr>
          <a:xfrm>
            <a:off x="1444752" y="1298448"/>
            <a:ext cx="713232" cy="713232"/>
          </a:xfrm>
          <a:prstGeom prst="ellipse">
            <a:avLst/>
          </a:prstGeom>
          <a:solidFill>
            <a:srgbClr val="12375B"/>
          </a:solidFill>
          <a:ln cap="flat" cmpd="sng" w="9525">
            <a:solidFill>
              <a:srgbClr val="12375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42" name="Google Shape;242;p9"/>
          <p:cNvSpPr/>
          <p:nvPr/>
        </p:nvSpPr>
        <p:spPr>
          <a:xfrm>
            <a:off x="3520440" y="1508760"/>
            <a:ext cx="2240280" cy="20574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12375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2375B"/>
                </a:solidFill>
                <a:latin typeface="Calibri"/>
                <a:ea typeface="Calibri"/>
                <a:cs typeface="Calibri"/>
                <a:sym typeface="Calibri"/>
              </a:rPr>
              <a:t>Zona afectada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2375B"/>
                </a:solidFill>
                <a:latin typeface="Calibri"/>
                <a:ea typeface="Calibri"/>
                <a:cs typeface="Calibri"/>
                <a:sym typeface="Calibri"/>
              </a:rPr>
              <a:t>Geolocalización del evento y visualización del sector afectado en el mapa.</a:t>
            </a:r>
            <a:endParaRPr/>
          </a:p>
        </p:txBody>
      </p:sp>
      <p:sp>
        <p:nvSpPr>
          <p:cNvPr id="243" name="Google Shape;243;p9"/>
          <p:cNvSpPr/>
          <p:nvPr/>
        </p:nvSpPr>
        <p:spPr>
          <a:xfrm>
            <a:off x="4279392" y="1298448"/>
            <a:ext cx="713232" cy="713232"/>
          </a:xfrm>
          <a:prstGeom prst="ellipse">
            <a:avLst/>
          </a:prstGeom>
          <a:solidFill>
            <a:srgbClr val="12375B"/>
          </a:solidFill>
          <a:ln cap="flat" cmpd="sng" w="9525">
            <a:solidFill>
              <a:srgbClr val="12375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44" name="Google Shape;244;p9"/>
          <p:cNvSpPr/>
          <p:nvPr/>
        </p:nvSpPr>
        <p:spPr>
          <a:xfrm>
            <a:off x="6428740" y="1508760"/>
            <a:ext cx="2240280" cy="20574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12375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12375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2375B"/>
                </a:solidFill>
                <a:latin typeface="Calibri"/>
                <a:ea typeface="Calibri"/>
                <a:cs typeface="Calibri"/>
                <a:sym typeface="Calibri"/>
              </a:rPr>
              <a:t>Impacto de             accesibilidad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2375B"/>
                </a:solidFill>
                <a:latin typeface="Calibri"/>
                <a:ea typeface="Calibri"/>
                <a:cs typeface="Calibri"/>
                <a:sym typeface="Calibri"/>
              </a:rPr>
              <a:t>Evalúa cómo la alerta puede afectar la movilidad, accesibilidad o autonomía de     las personas.</a:t>
            </a: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</a:t>
            </a: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sz="1800">
              <a:solidFill>
                <a:schemeClr val="lt1"/>
              </a:solidFill>
              <a:highlight>
                <a:srgbClr val="00008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7114032" y="1298448"/>
            <a:ext cx="713232" cy="713232"/>
          </a:xfrm>
          <a:prstGeom prst="ellipse">
            <a:avLst/>
          </a:prstGeom>
          <a:solidFill>
            <a:srgbClr val="12375B"/>
          </a:solidFill>
          <a:ln cap="flat" cmpd="sng" w="9525">
            <a:solidFill>
              <a:srgbClr val="12375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46" name="Google Shape;246;p9"/>
          <p:cNvSpPr/>
          <p:nvPr/>
        </p:nvSpPr>
        <p:spPr>
          <a:xfrm>
            <a:off x="9189720" y="1508760"/>
            <a:ext cx="2240280" cy="20574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12375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12375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12375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2375B"/>
                </a:solidFill>
                <a:latin typeface="Calibri"/>
                <a:ea typeface="Calibri"/>
                <a:cs typeface="Calibri"/>
                <a:sym typeface="Calibri"/>
              </a:rPr>
              <a:t>Aviso anticipado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C4146"/>
                </a:solidFill>
                <a:latin typeface="Calibri"/>
                <a:ea typeface="Calibri"/>
                <a:cs typeface="Calibri"/>
                <a:sym typeface="Calibri"/>
              </a:rPr>
              <a:t>Notificación  al Usuario con anticipación y entrega de recomendaciones para planificar alternativas.</a:t>
            </a:r>
            <a:br>
              <a:rPr lang="en-US" sz="1200">
                <a:solidFill>
                  <a:srgbClr val="3C414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9948672" y="1298448"/>
            <a:ext cx="713232" cy="713232"/>
          </a:xfrm>
          <a:prstGeom prst="ellipse">
            <a:avLst/>
          </a:prstGeom>
          <a:solidFill>
            <a:srgbClr val="12375B"/>
          </a:solidFill>
          <a:ln cap="flat" cmpd="sng" w="9525">
            <a:solidFill>
              <a:srgbClr val="12375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248" name="Google Shape;248;p9"/>
          <p:cNvSpPr/>
          <p:nvPr/>
        </p:nvSpPr>
        <p:spPr>
          <a:xfrm>
            <a:off x="731520" y="3977639"/>
            <a:ext cx="5394960" cy="16002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42964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307D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307D32"/>
                </a:solidFill>
                <a:latin typeface="Calibri"/>
                <a:ea typeface="Calibri"/>
                <a:cs typeface="Calibri"/>
                <a:sym typeface="Calibri"/>
              </a:rPr>
              <a:t>Enfoque Inclusivo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307D32"/>
                </a:solidFill>
                <a:latin typeface="Calibri"/>
                <a:ea typeface="Calibri"/>
                <a:cs typeface="Calibri"/>
                <a:sym typeface="Calibri"/>
              </a:rPr>
              <a:t>Prioriza información preventiva y accesible para personas con discapacidad, movilidad reducida  y adultos mayores. </a:t>
            </a:r>
            <a:endParaRPr b="1" sz="1700">
              <a:solidFill>
                <a:srgbClr val="307D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sp>
        <p:nvSpPr>
          <p:cNvPr id="249" name="Google Shape;249;p9"/>
          <p:cNvSpPr/>
          <p:nvPr/>
        </p:nvSpPr>
        <p:spPr>
          <a:xfrm>
            <a:off x="6355080" y="3977639"/>
            <a:ext cx="5074920" cy="16002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12375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2375B"/>
                </a:solidFill>
                <a:latin typeface="Calibri"/>
                <a:ea typeface="Calibri"/>
                <a:cs typeface="Calibri"/>
                <a:sym typeface="Calibri"/>
              </a:rPr>
              <a:t>Alcance del MVP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2375B"/>
                </a:solidFill>
                <a:latin typeface="Calibri"/>
                <a:ea typeface="Calibri"/>
                <a:cs typeface="Calibri"/>
                <a:sym typeface="Calibri"/>
              </a:rPr>
              <a:t>Alertas preventivas con datos programados o simulados. Las integraciones reales con municipios y empresas de servicios se consideran una evolución futura.</a:t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 txBox="1"/>
          <p:nvPr/>
        </p:nvSpPr>
        <p:spPr>
          <a:xfrm>
            <a:off x="616668" y="5760720"/>
            <a:ext cx="10928184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2375B"/>
                </a:solidFill>
                <a:latin typeface="Calibri"/>
                <a:ea typeface="Calibri"/>
                <a:cs typeface="Calibri"/>
                <a:sym typeface="Calibri"/>
              </a:rPr>
              <a:t>Valor agregado: Ciudad Alerta no solo informa lo que ocurrió; también ayuda a anticipar cómo una incidencia puede afectar el entorno.</a:t>
            </a:r>
            <a:endParaRPr/>
          </a:p>
        </p:txBody>
      </p:sp>
      <p:sp>
        <p:nvSpPr>
          <p:cNvPr id="251" name="Google Shape;251;p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2375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 txBox="1"/>
          <p:nvPr/>
        </p:nvSpPr>
        <p:spPr>
          <a:xfrm>
            <a:off x="8335101" y="6556375"/>
            <a:ext cx="3729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Capstone 2026  |  Ciudad Alerta  |  8</a:t>
            </a:r>
            <a:endParaRPr/>
          </a:p>
        </p:txBody>
      </p:sp>
      <p:pic>
        <p:nvPicPr>
          <p:cNvPr id="253" name="Google Shape;25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97074" y="-210528"/>
            <a:ext cx="3816427" cy="12254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3278" y="851417"/>
            <a:ext cx="11217612" cy="8596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7578" y="1985264"/>
            <a:ext cx="10813312" cy="32246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10" title="duocuc_logo_transparente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79276" y="-221100"/>
            <a:ext cx="3812724" cy="122665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10"/>
          <p:cNvSpPr txBox="1"/>
          <p:nvPr/>
        </p:nvSpPr>
        <p:spPr>
          <a:xfrm>
            <a:off x="0" y="6537960"/>
            <a:ext cx="12192000" cy="348615"/>
          </a:xfrm>
          <a:prstGeom prst="rect">
            <a:avLst/>
          </a:prstGeom>
          <a:solidFill>
            <a:srgbClr val="0F2B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2026  |  Ciudad Alerta  |  9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2" name="Google Shape;262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4436" y="70367"/>
            <a:ext cx="2114550" cy="78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1"/>
          <p:cNvSpPr txBox="1"/>
          <p:nvPr/>
        </p:nvSpPr>
        <p:spPr>
          <a:xfrm>
            <a:off x="4356691" y="1180222"/>
            <a:ext cx="6097772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Backlog - Sprint 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8" name="Google Shape;26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049295"/>
            <a:ext cx="12192000" cy="27594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75573" y="-187329"/>
            <a:ext cx="3816427" cy="1225402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11"/>
          <p:cNvSpPr txBox="1"/>
          <p:nvPr/>
        </p:nvSpPr>
        <p:spPr>
          <a:xfrm>
            <a:off x="0" y="6537960"/>
            <a:ext cx="12192000" cy="348615"/>
          </a:xfrm>
          <a:prstGeom prst="rect">
            <a:avLst/>
          </a:prstGeom>
          <a:solidFill>
            <a:srgbClr val="0F2B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2026  |  Ciudad Alerta  |  10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1" name="Google Shape;271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1794" y="34847"/>
            <a:ext cx="2114550" cy="78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2"/>
          <p:cNvSpPr txBox="1"/>
          <p:nvPr/>
        </p:nvSpPr>
        <p:spPr>
          <a:xfrm>
            <a:off x="548640" y="320040"/>
            <a:ext cx="4156331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0F2B4D"/>
                </a:solidFill>
                <a:latin typeface="Calibri"/>
                <a:ea typeface="Calibri"/>
                <a:cs typeface="Calibri"/>
                <a:sym typeface="Calibri"/>
              </a:rPr>
              <a:t>4. Objetivo general y alcance</a:t>
            </a:r>
            <a:endParaRPr/>
          </a:p>
        </p:txBody>
      </p:sp>
      <p:sp>
        <p:nvSpPr>
          <p:cNvPr id="277" name="Google Shape;277;p12"/>
          <p:cNvSpPr txBox="1"/>
          <p:nvPr/>
        </p:nvSpPr>
        <p:spPr>
          <a:xfrm>
            <a:off x="566928" y="914400"/>
            <a:ext cx="415459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69707A"/>
                </a:solidFill>
                <a:latin typeface="Calibri"/>
                <a:ea typeface="Calibri"/>
                <a:cs typeface="Calibri"/>
                <a:sym typeface="Calibri"/>
              </a:rPr>
              <a:t>Qué hace el sistema y qué queda fuera del MVP</a:t>
            </a:r>
            <a:endParaRPr/>
          </a:p>
        </p:txBody>
      </p:sp>
      <p:sp>
        <p:nvSpPr>
          <p:cNvPr id="278" name="Google Shape;278;p12"/>
          <p:cNvSpPr/>
          <p:nvPr/>
        </p:nvSpPr>
        <p:spPr>
          <a:xfrm>
            <a:off x="843915" y="1443306"/>
            <a:ext cx="10744200" cy="1143000"/>
          </a:xfrm>
          <a:prstGeom prst="roundRect">
            <a:avLst>
              <a:gd fmla="val 16667" name="adj"/>
            </a:avLst>
          </a:prstGeom>
          <a:solidFill>
            <a:srgbClr val="F4F7FA"/>
          </a:solidFill>
          <a:ln cap="flat" cmpd="sng" w="9525">
            <a:solidFill>
              <a:srgbClr val="23569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2"/>
          <p:cNvSpPr txBox="1"/>
          <p:nvPr/>
        </p:nvSpPr>
        <p:spPr>
          <a:xfrm>
            <a:off x="960120" y="1463040"/>
            <a:ext cx="1024128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F2B4D"/>
                </a:solidFill>
                <a:latin typeface="Calibri"/>
                <a:ea typeface="Calibri"/>
                <a:cs typeface="Calibri"/>
                <a:sym typeface="Calibri"/>
              </a:rPr>
              <a:t>Desarrollar un prototipo web y móvil que permita registrar, geolocalizar, verificar, clasificar, derivar y hacer seguimiento de incidencias urbanas de forma simple, segura, accesible y trazable.</a:t>
            </a:r>
            <a:endParaRPr/>
          </a:p>
        </p:txBody>
      </p:sp>
      <p:sp>
        <p:nvSpPr>
          <p:cNvPr id="280" name="Google Shape;280;p12"/>
          <p:cNvSpPr txBox="1"/>
          <p:nvPr/>
        </p:nvSpPr>
        <p:spPr>
          <a:xfrm>
            <a:off x="822960" y="2697480"/>
            <a:ext cx="493776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40963E"/>
                </a:solidFill>
                <a:latin typeface="Calibri"/>
                <a:ea typeface="Calibri"/>
                <a:cs typeface="Calibri"/>
                <a:sym typeface="Calibri"/>
              </a:rPr>
              <a:t>ALCANCE</a:t>
            </a:r>
            <a:endParaRPr/>
          </a:p>
        </p:txBody>
      </p:sp>
      <p:sp>
        <p:nvSpPr>
          <p:cNvPr id="281" name="Google Shape;281;p12"/>
          <p:cNvSpPr txBox="1"/>
          <p:nvPr/>
        </p:nvSpPr>
        <p:spPr>
          <a:xfrm>
            <a:off x="6400800" y="2697480"/>
            <a:ext cx="475488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B44141"/>
                </a:solidFill>
                <a:latin typeface="Calibri"/>
                <a:ea typeface="Calibri"/>
                <a:cs typeface="Calibri"/>
                <a:sym typeface="Calibri"/>
              </a:rPr>
              <a:t>FUERA DEL ALCANCE</a:t>
            </a:r>
            <a:endParaRPr/>
          </a:p>
        </p:txBody>
      </p:sp>
      <p:sp>
        <p:nvSpPr>
          <p:cNvPr id="282" name="Google Shape;282;p12"/>
          <p:cNvSpPr txBox="1"/>
          <p:nvPr/>
        </p:nvSpPr>
        <p:spPr>
          <a:xfrm>
            <a:off x="868680" y="3063240"/>
            <a:ext cx="5074920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800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  <a:t>Registro, autenticación y roles.</a:t>
            </a:r>
            <a:br>
              <a:rPr b="0" lang="en-US" sz="1800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1800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  <a:t>• Reporte con foto, ubicación y categoría.</a:t>
            </a:r>
            <a:br>
              <a:rPr b="0" lang="en-US" sz="1800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1800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  <a:t>• Mapa de incidencias.</a:t>
            </a:r>
            <a:br>
              <a:rPr b="0" lang="en-US" sz="1800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1800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  <a:t>• Detección de posibles duplicados.</a:t>
            </a:r>
            <a:br>
              <a:rPr b="0" lang="en-US" sz="1800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1800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  <a:t>• Confirmación y contador comunitario.</a:t>
            </a:r>
            <a:br>
              <a:rPr b="0" lang="en-US" sz="1800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1800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  <a:t>• Seguimiento y cambio de estado.</a:t>
            </a:r>
            <a:br>
              <a:rPr b="0" lang="en-US" sz="1800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1800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  <a:t>• Reconocimiento básico e historial de participación.</a:t>
            </a:r>
            <a:endParaRPr/>
          </a:p>
        </p:txBody>
      </p:sp>
      <p:sp>
        <p:nvSpPr>
          <p:cNvPr id="283" name="Google Shape;283;p12"/>
          <p:cNvSpPr txBox="1"/>
          <p:nvPr/>
        </p:nvSpPr>
        <p:spPr>
          <a:xfrm>
            <a:off x="6446520" y="3063240"/>
            <a:ext cx="4572000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800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  <a:t>Integración productiva con organismos externos.</a:t>
            </a:r>
            <a:br>
              <a:rPr b="0" lang="en-US" sz="1800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1800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  <a:t>• Cobertura nacional.</a:t>
            </a:r>
            <a:br>
              <a:rPr b="0" lang="en-US" sz="1800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1800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  <a:t>• Reputación avanzada y detección compleja de fraude.</a:t>
            </a:r>
            <a:br>
              <a:rPr b="0" lang="en-US" sz="1800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1800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  <a:t>• Analítica predictiva avanzada.</a:t>
            </a:r>
            <a:br>
              <a:rPr b="0" lang="en-US" sz="1800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1800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  <a:t>• Operación productiva 24/7 y SLA institucional.</a:t>
            </a:r>
            <a:endParaRPr/>
          </a:p>
        </p:txBody>
      </p:sp>
      <p:sp>
        <p:nvSpPr>
          <p:cNvPr id="284" name="Google Shape;284;p1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2B4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2"/>
          <p:cNvSpPr txBox="1"/>
          <p:nvPr/>
        </p:nvSpPr>
        <p:spPr>
          <a:xfrm>
            <a:off x="843915" y="6528435"/>
            <a:ext cx="11348085" cy="273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2026  |  Ciudad Alerta  |  11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6" name="Google Shape;28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98529" y="-259030"/>
            <a:ext cx="3816427" cy="12254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60682" y="7352"/>
            <a:ext cx="2114550" cy="78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3"/>
          <p:cNvSpPr txBox="1"/>
          <p:nvPr/>
        </p:nvSpPr>
        <p:spPr>
          <a:xfrm>
            <a:off x="548640" y="320040"/>
            <a:ext cx="4548425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0F2B4D"/>
                </a:solidFill>
                <a:latin typeface="Calibri"/>
                <a:ea typeface="Calibri"/>
                <a:cs typeface="Calibri"/>
                <a:sym typeface="Calibri"/>
              </a:rPr>
              <a:t>5. Limitaciones y alcance futuro</a:t>
            </a:r>
            <a:endParaRPr/>
          </a:p>
        </p:txBody>
      </p:sp>
      <p:sp>
        <p:nvSpPr>
          <p:cNvPr id="293" name="Google Shape;293;p13"/>
          <p:cNvSpPr txBox="1"/>
          <p:nvPr/>
        </p:nvSpPr>
        <p:spPr>
          <a:xfrm>
            <a:off x="566928" y="914400"/>
            <a:ext cx="2640466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69707A"/>
                </a:solidFill>
                <a:latin typeface="Calibri"/>
                <a:ea typeface="Calibri"/>
                <a:cs typeface="Calibri"/>
                <a:sym typeface="Calibri"/>
              </a:rPr>
              <a:t>Factores reales del proyecto y su evolución</a:t>
            </a:r>
            <a:endParaRPr/>
          </a:p>
        </p:txBody>
      </p:sp>
      <p:sp>
        <p:nvSpPr>
          <p:cNvPr id="294" name="Google Shape;294;p13"/>
          <p:cNvSpPr txBox="1"/>
          <p:nvPr/>
        </p:nvSpPr>
        <p:spPr>
          <a:xfrm>
            <a:off x="822960" y="128016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B44141"/>
                </a:solidFill>
                <a:latin typeface="Calibri"/>
                <a:ea typeface="Calibri"/>
                <a:cs typeface="Calibri"/>
                <a:sym typeface="Calibri"/>
              </a:rPr>
              <a:t>LIMITACIONES</a:t>
            </a:r>
            <a:endParaRPr/>
          </a:p>
        </p:txBody>
      </p:sp>
      <p:sp>
        <p:nvSpPr>
          <p:cNvPr id="295" name="Google Shape;295;p13"/>
          <p:cNvSpPr txBox="1"/>
          <p:nvPr/>
        </p:nvSpPr>
        <p:spPr>
          <a:xfrm>
            <a:off x="6400800" y="1280160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40963E"/>
                </a:solidFill>
                <a:latin typeface="Calibri"/>
                <a:ea typeface="Calibri"/>
                <a:cs typeface="Calibri"/>
                <a:sym typeface="Calibri"/>
              </a:rPr>
              <a:t>ALCANCE FUTURO</a:t>
            </a:r>
            <a:endParaRPr/>
          </a:p>
        </p:txBody>
      </p:sp>
      <p:sp>
        <p:nvSpPr>
          <p:cNvPr id="296" name="Google Shape;296;p13"/>
          <p:cNvSpPr/>
          <p:nvPr/>
        </p:nvSpPr>
        <p:spPr>
          <a:xfrm>
            <a:off x="731520" y="1737360"/>
            <a:ext cx="5120640" cy="42976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4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3"/>
          <p:cNvSpPr/>
          <p:nvPr/>
        </p:nvSpPr>
        <p:spPr>
          <a:xfrm>
            <a:off x="640080" y="1739900"/>
            <a:ext cx="91440" cy="4297680"/>
          </a:xfrm>
          <a:prstGeom prst="rect">
            <a:avLst/>
          </a:prstGeom>
          <a:solidFill>
            <a:srgbClr val="B4414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3"/>
          <p:cNvSpPr txBox="1"/>
          <p:nvPr/>
        </p:nvSpPr>
        <p:spPr>
          <a:xfrm>
            <a:off x="2125980" y="2197735"/>
            <a:ext cx="2111375" cy="3219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F2B4D"/>
                </a:solidFill>
                <a:latin typeface="Calibri"/>
                <a:ea typeface="Calibri"/>
                <a:cs typeface="Calibri"/>
                <a:sym typeface="Calibri"/>
              </a:rPr>
              <a:t>Limitaciones del MVP</a:t>
            </a:r>
            <a:endParaRPr/>
          </a:p>
        </p:txBody>
      </p:sp>
      <p:sp>
        <p:nvSpPr>
          <p:cNvPr id="299" name="Google Shape;299;p13"/>
          <p:cNvSpPr txBox="1"/>
          <p:nvPr/>
        </p:nvSpPr>
        <p:spPr>
          <a:xfrm>
            <a:off x="1225550" y="2896235"/>
            <a:ext cx="4224020" cy="12915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  <a:t>• Dependencia de conectividad y GPS.</a:t>
            </a:r>
            <a:br>
              <a:rPr b="0" lang="en-US" sz="1300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1300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  <a:t>• Calidad variable de fotografías.</a:t>
            </a:r>
            <a:br>
              <a:rPr b="0" lang="en-US" sz="1300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1300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  <a:t>• Alcance territorial controlado del piloto.</a:t>
            </a:r>
            <a:br>
              <a:rPr b="0" lang="en-US" sz="1300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1300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  <a:t>• Enrutamiento institucional inicialmente simulado.</a:t>
            </a:r>
            <a:br>
              <a:rPr b="0" lang="en-US" sz="1300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1300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  <a:t>• Tiempo académico limitado para integrar servicios externos.</a:t>
            </a:r>
            <a:endParaRPr/>
          </a:p>
        </p:txBody>
      </p:sp>
      <p:sp>
        <p:nvSpPr>
          <p:cNvPr id="300" name="Google Shape;300;p13"/>
          <p:cNvSpPr/>
          <p:nvPr/>
        </p:nvSpPr>
        <p:spPr>
          <a:xfrm>
            <a:off x="6355080" y="1737360"/>
            <a:ext cx="5074920" cy="42976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4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3"/>
          <p:cNvSpPr/>
          <p:nvPr/>
        </p:nvSpPr>
        <p:spPr>
          <a:xfrm>
            <a:off x="6263640" y="1737360"/>
            <a:ext cx="91440" cy="4297680"/>
          </a:xfrm>
          <a:prstGeom prst="rect">
            <a:avLst/>
          </a:prstGeom>
          <a:solidFill>
            <a:srgbClr val="40963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3"/>
          <p:cNvSpPr txBox="1"/>
          <p:nvPr/>
        </p:nvSpPr>
        <p:spPr>
          <a:xfrm>
            <a:off x="8061960" y="2196465"/>
            <a:ext cx="1918335" cy="3219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F2B4D"/>
                </a:solidFill>
                <a:latin typeface="Calibri"/>
                <a:ea typeface="Calibri"/>
                <a:cs typeface="Calibri"/>
                <a:sym typeface="Calibri"/>
              </a:rPr>
              <a:t>Evolución propuesta</a:t>
            </a:r>
            <a:endParaRPr/>
          </a:p>
        </p:txBody>
      </p:sp>
      <p:sp>
        <p:nvSpPr>
          <p:cNvPr id="303" name="Google Shape;303;p13"/>
          <p:cNvSpPr txBox="1"/>
          <p:nvPr/>
        </p:nvSpPr>
        <p:spPr>
          <a:xfrm>
            <a:off x="6671945" y="2896235"/>
            <a:ext cx="4213225" cy="1383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  <a:t>• Integración con municipios y empresas de servicios.</a:t>
            </a:r>
            <a:br>
              <a:rPr b="0" lang="en-US" sz="1400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1400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  <a:t>• Alertas tempranas desde fuentes externas autorizadas.</a:t>
            </a:r>
            <a:br>
              <a:rPr b="0" lang="en-US" sz="1400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1400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  <a:t>• Reputación avanzada y mecanismos antifraude.</a:t>
            </a:r>
            <a:br>
              <a:rPr b="0" lang="en-US" sz="1400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1400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  <a:t>• Analítica e indicadores territoriales.</a:t>
            </a:r>
            <a:br>
              <a:rPr b="0" lang="en-US" sz="1400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1400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  <a:t>• IA para apoyar clasificación y priorización.</a:t>
            </a:r>
            <a:endParaRPr/>
          </a:p>
        </p:txBody>
      </p:sp>
      <p:sp>
        <p:nvSpPr>
          <p:cNvPr id="304" name="Google Shape;304;p1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2B4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3"/>
          <p:cNvSpPr txBox="1"/>
          <p:nvPr/>
        </p:nvSpPr>
        <p:spPr>
          <a:xfrm>
            <a:off x="822960" y="6529070"/>
            <a:ext cx="11302365" cy="3289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2026  |  Ciudad Alerta  | 12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6" name="Google Shape;30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65871" y="-235062"/>
            <a:ext cx="3816427" cy="12254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67466" y="81280"/>
            <a:ext cx="2114550" cy="78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4"/>
          <p:cNvSpPr txBox="1"/>
          <p:nvPr/>
        </p:nvSpPr>
        <p:spPr>
          <a:xfrm>
            <a:off x="548640" y="320040"/>
            <a:ext cx="5754524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0F2B4D"/>
                </a:solidFill>
                <a:latin typeface="Calibri"/>
                <a:ea typeface="Calibri"/>
                <a:cs typeface="Calibri"/>
                <a:sym typeface="Calibri"/>
              </a:rPr>
              <a:t>6. Requerimientos e historias de usuario</a:t>
            </a:r>
            <a:endParaRPr/>
          </a:p>
        </p:txBody>
      </p:sp>
      <p:sp>
        <p:nvSpPr>
          <p:cNvPr id="313" name="Google Shape;313;p14"/>
          <p:cNvSpPr txBox="1"/>
          <p:nvPr/>
        </p:nvSpPr>
        <p:spPr>
          <a:xfrm>
            <a:off x="566928" y="914400"/>
            <a:ext cx="4565673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voz del usuario se transforma en funcionalidades priorizadas para el MVP.</a:t>
            </a:r>
            <a:endParaRPr/>
          </a:p>
        </p:txBody>
      </p:sp>
      <p:sp>
        <p:nvSpPr>
          <p:cNvPr id="314" name="Google Shape;314;p14"/>
          <p:cNvSpPr/>
          <p:nvPr/>
        </p:nvSpPr>
        <p:spPr>
          <a:xfrm>
            <a:off x="731520" y="1325880"/>
            <a:ext cx="2331720" cy="1143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23569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4"/>
          <p:cNvSpPr txBox="1"/>
          <p:nvPr/>
        </p:nvSpPr>
        <p:spPr>
          <a:xfrm>
            <a:off x="1594485" y="1390015"/>
            <a:ext cx="496570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03053"/>
                </a:solidFill>
                <a:latin typeface="Calibri"/>
                <a:ea typeface="Calibri"/>
                <a:cs typeface="Calibri"/>
                <a:sym typeface="Calibri"/>
              </a:rPr>
              <a:t>36</a:t>
            </a:r>
            <a:endParaRPr/>
          </a:p>
        </p:txBody>
      </p:sp>
      <p:sp>
        <p:nvSpPr>
          <p:cNvPr id="316" name="Google Shape;316;p14"/>
          <p:cNvSpPr txBox="1"/>
          <p:nvPr/>
        </p:nvSpPr>
        <p:spPr>
          <a:xfrm>
            <a:off x="868680" y="1920240"/>
            <a:ext cx="2057400" cy="4642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  <a:t>Requerimientos</a:t>
            </a:r>
            <a:endParaRPr/>
          </a:p>
          <a:p>
            <a:pPr indent="0" lvl="0" marL="0" marR="0" rtl="0" algn="ctr">
              <a:spcBef>
                <a:spcPts val="50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  <a:t>funcionales</a:t>
            </a:r>
            <a:endParaRPr/>
          </a:p>
        </p:txBody>
      </p:sp>
      <p:sp>
        <p:nvSpPr>
          <p:cNvPr id="317" name="Google Shape;317;p14"/>
          <p:cNvSpPr/>
          <p:nvPr/>
        </p:nvSpPr>
        <p:spPr>
          <a:xfrm>
            <a:off x="3520439" y="1325880"/>
            <a:ext cx="2331720" cy="1143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40963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4"/>
          <p:cNvSpPr txBox="1"/>
          <p:nvPr/>
        </p:nvSpPr>
        <p:spPr>
          <a:xfrm>
            <a:off x="4173855" y="1398270"/>
            <a:ext cx="888365" cy="5219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40963E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/>
          </a:p>
        </p:txBody>
      </p:sp>
      <p:sp>
        <p:nvSpPr>
          <p:cNvPr id="319" name="Google Shape;319;p14"/>
          <p:cNvSpPr txBox="1"/>
          <p:nvPr/>
        </p:nvSpPr>
        <p:spPr>
          <a:xfrm>
            <a:off x="3657599" y="1887855"/>
            <a:ext cx="2057400" cy="4642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  <a:t>Requerimientos no</a:t>
            </a:r>
            <a:endParaRPr/>
          </a:p>
          <a:p>
            <a:pPr indent="0" lvl="0" marL="0" marR="0" rtl="0" algn="ctr">
              <a:spcBef>
                <a:spcPts val="50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  <a:t>funcionales</a:t>
            </a:r>
            <a:endParaRPr/>
          </a:p>
        </p:txBody>
      </p:sp>
      <p:sp>
        <p:nvSpPr>
          <p:cNvPr id="320" name="Google Shape;320;p14"/>
          <p:cNvSpPr/>
          <p:nvPr/>
        </p:nvSpPr>
        <p:spPr>
          <a:xfrm>
            <a:off x="6309359" y="1325880"/>
            <a:ext cx="2331720" cy="1143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23569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4"/>
          <p:cNvSpPr txBox="1"/>
          <p:nvPr/>
        </p:nvSpPr>
        <p:spPr>
          <a:xfrm>
            <a:off x="7145020" y="1408430"/>
            <a:ext cx="624205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03053"/>
                </a:solidFill>
                <a:latin typeface="Calibri"/>
                <a:ea typeface="Calibri"/>
                <a:cs typeface="Calibri"/>
                <a:sym typeface="Calibri"/>
              </a:rPr>
              <a:t>24</a:t>
            </a:r>
            <a:endParaRPr/>
          </a:p>
        </p:txBody>
      </p:sp>
      <p:sp>
        <p:nvSpPr>
          <p:cNvPr id="322" name="Google Shape;322;p14"/>
          <p:cNvSpPr txBox="1"/>
          <p:nvPr/>
        </p:nvSpPr>
        <p:spPr>
          <a:xfrm>
            <a:off x="6446520" y="1887855"/>
            <a:ext cx="2057400" cy="4642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  <a:t>Historias de</a:t>
            </a:r>
            <a:endParaRPr/>
          </a:p>
          <a:p>
            <a:pPr indent="0" lvl="0" marL="0" marR="0" rtl="0" algn="ctr">
              <a:spcBef>
                <a:spcPts val="50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  <a:t>usuario</a:t>
            </a:r>
            <a:endParaRPr/>
          </a:p>
        </p:txBody>
      </p:sp>
      <p:sp>
        <p:nvSpPr>
          <p:cNvPr id="323" name="Google Shape;323;p14"/>
          <p:cNvSpPr/>
          <p:nvPr/>
        </p:nvSpPr>
        <p:spPr>
          <a:xfrm>
            <a:off x="9098280" y="1325880"/>
            <a:ext cx="2331720" cy="1143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40963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4"/>
          <p:cNvSpPr txBox="1"/>
          <p:nvPr/>
        </p:nvSpPr>
        <p:spPr>
          <a:xfrm>
            <a:off x="9970770" y="1407795"/>
            <a:ext cx="586740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37993B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/>
          </a:p>
        </p:txBody>
      </p:sp>
      <p:sp>
        <p:nvSpPr>
          <p:cNvPr id="325" name="Google Shape;325;p14"/>
          <p:cNvSpPr txBox="1"/>
          <p:nvPr/>
        </p:nvSpPr>
        <p:spPr>
          <a:xfrm>
            <a:off x="9235440" y="1887855"/>
            <a:ext cx="2057400" cy="4642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  <a:t>Historias</a:t>
            </a:r>
            <a:endParaRPr/>
          </a:p>
          <a:p>
            <a:pPr indent="0" lvl="0" marL="0" marR="0" rtl="0" algn="ctr">
              <a:spcBef>
                <a:spcPts val="50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  <a:t>priorizadas MVP</a:t>
            </a:r>
            <a:endParaRPr/>
          </a:p>
        </p:txBody>
      </p:sp>
      <p:sp>
        <p:nvSpPr>
          <p:cNvPr id="326" name="Google Shape;326;p14"/>
          <p:cNvSpPr/>
          <p:nvPr/>
        </p:nvSpPr>
        <p:spPr>
          <a:xfrm>
            <a:off x="822960" y="2788920"/>
            <a:ext cx="3566160" cy="29260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4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4"/>
          <p:cNvSpPr/>
          <p:nvPr/>
        </p:nvSpPr>
        <p:spPr>
          <a:xfrm>
            <a:off x="822960" y="2788920"/>
            <a:ext cx="91440" cy="2926080"/>
          </a:xfrm>
          <a:prstGeom prst="rect">
            <a:avLst/>
          </a:prstGeom>
          <a:solidFill>
            <a:srgbClr val="23569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4"/>
          <p:cNvSpPr txBox="1"/>
          <p:nvPr/>
        </p:nvSpPr>
        <p:spPr>
          <a:xfrm>
            <a:off x="1594485" y="3316318"/>
            <a:ext cx="225893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03053"/>
                </a:solidFill>
                <a:latin typeface="Calibri"/>
                <a:ea typeface="Calibri"/>
                <a:cs typeface="Calibri"/>
                <a:sym typeface="Calibri"/>
              </a:rPr>
              <a:t>HU-20 · Detección de coincidencias</a:t>
            </a:r>
            <a:endParaRPr b="1" sz="1600">
              <a:solidFill>
                <a:srgbClr val="1030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4"/>
          <p:cNvSpPr txBox="1"/>
          <p:nvPr/>
        </p:nvSpPr>
        <p:spPr>
          <a:xfrm>
            <a:off x="1046162" y="4018915"/>
            <a:ext cx="311975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  <a:t>Como ciudadano, quiero visualizar incidencias  similares cercanas antes de crear un reporte, para evitar  duplicar información.</a:t>
            </a:r>
            <a:endParaRPr b="0" sz="1200">
              <a:solidFill>
                <a:srgbClr val="1E26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4"/>
          <p:cNvSpPr/>
          <p:nvPr/>
        </p:nvSpPr>
        <p:spPr>
          <a:xfrm>
            <a:off x="4343400" y="2788920"/>
            <a:ext cx="3566160" cy="29260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4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4"/>
          <p:cNvSpPr/>
          <p:nvPr/>
        </p:nvSpPr>
        <p:spPr>
          <a:xfrm>
            <a:off x="4343400" y="2788920"/>
            <a:ext cx="91440" cy="2926080"/>
          </a:xfrm>
          <a:prstGeom prst="rect">
            <a:avLst/>
          </a:prstGeom>
          <a:solidFill>
            <a:srgbClr val="40963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4"/>
          <p:cNvSpPr txBox="1"/>
          <p:nvPr/>
        </p:nvSpPr>
        <p:spPr>
          <a:xfrm>
            <a:off x="5136994" y="3235325"/>
            <a:ext cx="2589685" cy="263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03053"/>
                </a:solidFill>
                <a:latin typeface="Calibri"/>
                <a:ea typeface="Calibri"/>
                <a:cs typeface="Calibri"/>
                <a:sym typeface="Calibri"/>
              </a:rPr>
              <a:t>HU-21/22 · Validación comunitaria</a:t>
            </a:r>
            <a:endParaRPr/>
          </a:p>
        </p:txBody>
      </p:sp>
      <p:sp>
        <p:nvSpPr>
          <p:cNvPr id="333" name="Google Shape;333;p14"/>
          <p:cNvSpPr/>
          <p:nvPr/>
        </p:nvSpPr>
        <p:spPr>
          <a:xfrm>
            <a:off x="7863840" y="2788920"/>
            <a:ext cx="3566160" cy="29260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4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4"/>
          <p:cNvSpPr/>
          <p:nvPr/>
        </p:nvSpPr>
        <p:spPr>
          <a:xfrm>
            <a:off x="7863840" y="2788920"/>
            <a:ext cx="91440" cy="2926080"/>
          </a:xfrm>
          <a:prstGeom prst="rect">
            <a:avLst/>
          </a:prstGeom>
          <a:solidFill>
            <a:srgbClr val="0F2B4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4"/>
          <p:cNvSpPr txBox="1"/>
          <p:nvPr/>
        </p:nvSpPr>
        <p:spPr>
          <a:xfrm>
            <a:off x="8551545" y="3136900"/>
            <a:ext cx="278701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03053"/>
                </a:solidFill>
                <a:latin typeface="Calibri"/>
                <a:ea typeface="Calibri"/>
                <a:cs typeface="Calibri"/>
                <a:sym typeface="Calibri"/>
              </a:rPr>
              <a:t>HU-23/24 · Participación y prevención</a:t>
            </a:r>
            <a:endParaRPr b="1" sz="1600">
              <a:solidFill>
                <a:srgbClr val="1030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4"/>
          <p:cNvSpPr txBox="1"/>
          <p:nvPr/>
        </p:nvSpPr>
        <p:spPr>
          <a:xfrm>
            <a:off x="4526915" y="3792855"/>
            <a:ext cx="3061970" cy="918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  <a:t>Como ciudadano autenticado, quiero confirmar una incidencia existente y visualizar su número de confirmaciones </a:t>
            </a:r>
            <a:r>
              <a:rPr lang="en-US" sz="1200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0" lang="en-US" sz="1200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  <a:t>ara fortalecer la información comunitaria.</a:t>
            </a:r>
            <a:endParaRPr b="0" sz="1200">
              <a:solidFill>
                <a:srgbClr val="1E26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4"/>
          <p:cNvSpPr/>
          <p:nvPr/>
        </p:nvSpPr>
        <p:spPr>
          <a:xfrm>
            <a:off x="0" y="6583045"/>
            <a:ext cx="12191695" cy="274320"/>
          </a:xfrm>
          <a:prstGeom prst="rect">
            <a:avLst/>
          </a:prstGeom>
          <a:solidFill>
            <a:srgbClr val="0F2B4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4"/>
          <p:cNvSpPr txBox="1"/>
          <p:nvPr/>
        </p:nvSpPr>
        <p:spPr>
          <a:xfrm>
            <a:off x="868680" y="6535420"/>
            <a:ext cx="11247120" cy="3473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2026  |  Ciudad Alerta  |  13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4"/>
          <p:cNvSpPr txBox="1"/>
          <p:nvPr/>
        </p:nvSpPr>
        <p:spPr>
          <a:xfrm>
            <a:off x="8092440" y="3792855"/>
            <a:ext cx="3246120" cy="8723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  <a:t>Como </a:t>
            </a:r>
            <a:r>
              <a:rPr lang="en-US" sz="1200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  <a:t>ciudadano</a:t>
            </a:r>
            <a:r>
              <a:rPr b="0" lang="en-US" sz="1200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  <a:t>, quiero recibir reconocimiento por mis aportes validados y </a:t>
            </a:r>
            <a:r>
              <a:rPr lang="en-US" sz="1200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  <a:t>seleccionar alertas preventivas por categorías, para participar y anticiparme a situaciones urbanas</a:t>
            </a:r>
            <a:r>
              <a:rPr b="0" lang="en-US" sz="1200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pic>
        <p:nvPicPr>
          <p:cNvPr id="340" name="Google Shape;34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6073" y="-231235"/>
            <a:ext cx="3816427" cy="12254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67554" y="4710067"/>
            <a:ext cx="2238375" cy="1004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4088" y="3246180"/>
            <a:ext cx="640398" cy="598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49190" y="4712970"/>
            <a:ext cx="2400300" cy="86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26281" y="3030855"/>
            <a:ext cx="597689" cy="612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339137" y="4798695"/>
            <a:ext cx="2752725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063058" y="3020567"/>
            <a:ext cx="581345" cy="61226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641485" y="5965126"/>
            <a:ext cx="3085194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224587" y="38482"/>
            <a:ext cx="2114550" cy="78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5"/>
          <p:cNvSpPr txBox="1"/>
          <p:nvPr/>
        </p:nvSpPr>
        <p:spPr>
          <a:xfrm>
            <a:off x="548640" y="320040"/>
            <a:ext cx="3906134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0F2B4D"/>
                </a:solidFill>
                <a:latin typeface="Calibri"/>
                <a:ea typeface="Calibri"/>
                <a:cs typeface="Calibri"/>
                <a:sym typeface="Calibri"/>
              </a:rPr>
              <a:t>7. Arquitectura del sistema</a:t>
            </a:r>
            <a:endParaRPr/>
          </a:p>
        </p:txBody>
      </p:sp>
      <p:sp>
        <p:nvSpPr>
          <p:cNvPr id="354" name="Google Shape;354;p15"/>
          <p:cNvSpPr txBox="1"/>
          <p:nvPr/>
        </p:nvSpPr>
        <p:spPr>
          <a:xfrm>
            <a:off x="566928" y="914400"/>
            <a:ext cx="1784463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69707A"/>
                </a:solidFill>
                <a:latin typeface="Calibri"/>
                <a:ea typeface="Calibri"/>
                <a:cs typeface="Calibri"/>
                <a:sym typeface="Calibri"/>
              </a:rPr>
              <a:t>Arquitectura lógica del MVP</a:t>
            </a:r>
            <a:endParaRPr/>
          </a:p>
        </p:txBody>
      </p:sp>
      <p:sp>
        <p:nvSpPr>
          <p:cNvPr id="355" name="Google Shape;355;p15"/>
          <p:cNvSpPr/>
          <p:nvPr/>
        </p:nvSpPr>
        <p:spPr>
          <a:xfrm>
            <a:off x="1097280" y="1325880"/>
            <a:ext cx="9966960" cy="914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23569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5"/>
          <p:cNvSpPr/>
          <p:nvPr/>
        </p:nvSpPr>
        <p:spPr>
          <a:xfrm>
            <a:off x="1234440" y="1490472"/>
            <a:ext cx="1828800" cy="585216"/>
          </a:xfrm>
          <a:prstGeom prst="roundRect">
            <a:avLst>
              <a:gd fmla="val 16667" name="adj"/>
            </a:avLst>
          </a:prstGeom>
          <a:solidFill>
            <a:srgbClr val="23569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5"/>
          <p:cNvSpPr txBox="1"/>
          <p:nvPr/>
        </p:nvSpPr>
        <p:spPr>
          <a:xfrm>
            <a:off x="1325880" y="1645919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Presentación</a:t>
            </a:r>
            <a:endParaRPr/>
          </a:p>
        </p:txBody>
      </p:sp>
      <p:sp>
        <p:nvSpPr>
          <p:cNvPr id="358" name="Google Shape;358;p15"/>
          <p:cNvSpPr txBox="1"/>
          <p:nvPr/>
        </p:nvSpPr>
        <p:spPr>
          <a:xfrm>
            <a:off x="3337560" y="1453895"/>
            <a:ext cx="2107651" cy="556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  <a:t>App móvil Ionic + Angular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  <a:t>Portal Web React</a:t>
            </a:r>
            <a:endParaRPr/>
          </a:p>
        </p:txBody>
      </p:sp>
      <p:sp>
        <p:nvSpPr>
          <p:cNvPr id="359" name="Google Shape;359;p15"/>
          <p:cNvSpPr txBox="1"/>
          <p:nvPr/>
        </p:nvSpPr>
        <p:spPr>
          <a:xfrm>
            <a:off x="9738360" y="1645919"/>
            <a:ext cx="100584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69707A"/>
                </a:solidFill>
                <a:latin typeface="Calibri"/>
                <a:ea typeface="Calibri"/>
                <a:cs typeface="Calibri"/>
                <a:sym typeface="Calibri"/>
              </a:rPr>
              <a:t>Cliente</a:t>
            </a:r>
            <a:endParaRPr/>
          </a:p>
        </p:txBody>
      </p:sp>
      <p:cxnSp>
        <p:nvCxnSpPr>
          <p:cNvPr id="360" name="Google Shape;360;p15"/>
          <p:cNvCxnSpPr/>
          <p:nvPr/>
        </p:nvCxnSpPr>
        <p:spPr>
          <a:xfrm>
            <a:off x="6080760" y="2240280"/>
            <a:ext cx="0" cy="320040"/>
          </a:xfrm>
          <a:prstGeom prst="straightConnector1">
            <a:avLst/>
          </a:prstGeom>
          <a:noFill/>
          <a:ln cap="flat" cmpd="sng" w="19050">
            <a:solidFill>
              <a:srgbClr val="DCE4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61" name="Google Shape;361;p15"/>
          <p:cNvSpPr/>
          <p:nvPr/>
        </p:nvSpPr>
        <p:spPr>
          <a:xfrm>
            <a:off x="1097280" y="2587752"/>
            <a:ext cx="9966960" cy="914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40963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5"/>
          <p:cNvSpPr/>
          <p:nvPr/>
        </p:nvSpPr>
        <p:spPr>
          <a:xfrm>
            <a:off x="1234440" y="2752344"/>
            <a:ext cx="1828800" cy="585216"/>
          </a:xfrm>
          <a:prstGeom prst="roundRect">
            <a:avLst>
              <a:gd fmla="val 16667" name="adj"/>
            </a:avLst>
          </a:prstGeom>
          <a:solidFill>
            <a:srgbClr val="40963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5"/>
          <p:cNvSpPr txBox="1"/>
          <p:nvPr/>
        </p:nvSpPr>
        <p:spPr>
          <a:xfrm>
            <a:off x="1325880" y="2907792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Servicios</a:t>
            </a:r>
            <a:endParaRPr/>
          </a:p>
        </p:txBody>
      </p:sp>
      <p:sp>
        <p:nvSpPr>
          <p:cNvPr id="364" name="Google Shape;364;p15"/>
          <p:cNvSpPr txBox="1"/>
          <p:nvPr/>
        </p:nvSpPr>
        <p:spPr>
          <a:xfrm>
            <a:off x="3337560" y="2715768"/>
            <a:ext cx="3786254" cy="6924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  <a:t>Firebase / lógica de negocio</a:t>
            </a:r>
            <a:br>
              <a:rPr b="0" lang="en-US" sz="1300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1300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  <a:t>Autenticación · clasificación · enrutamiento · alertas ·</a:t>
            </a:r>
            <a:endParaRPr b="0" sz="1300">
              <a:solidFill>
                <a:srgbClr val="1E26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  <a:t> validación · reconocimientos</a:t>
            </a:r>
            <a:endParaRPr/>
          </a:p>
        </p:txBody>
      </p:sp>
      <p:sp>
        <p:nvSpPr>
          <p:cNvPr id="365" name="Google Shape;365;p15"/>
          <p:cNvSpPr txBox="1"/>
          <p:nvPr/>
        </p:nvSpPr>
        <p:spPr>
          <a:xfrm>
            <a:off x="9738360" y="2907792"/>
            <a:ext cx="1005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69707A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/>
          </a:p>
        </p:txBody>
      </p:sp>
      <p:cxnSp>
        <p:nvCxnSpPr>
          <p:cNvPr id="366" name="Google Shape;366;p15"/>
          <p:cNvCxnSpPr/>
          <p:nvPr/>
        </p:nvCxnSpPr>
        <p:spPr>
          <a:xfrm>
            <a:off x="6080760" y="3502152"/>
            <a:ext cx="0" cy="320039"/>
          </a:xfrm>
          <a:prstGeom prst="straightConnector1">
            <a:avLst/>
          </a:prstGeom>
          <a:noFill/>
          <a:ln cap="flat" cmpd="sng" w="19050">
            <a:solidFill>
              <a:srgbClr val="DCE4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67" name="Google Shape;367;p15"/>
          <p:cNvSpPr/>
          <p:nvPr/>
        </p:nvSpPr>
        <p:spPr>
          <a:xfrm>
            <a:off x="1097280" y="3849624"/>
            <a:ext cx="9966960" cy="914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40963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5"/>
          <p:cNvSpPr/>
          <p:nvPr/>
        </p:nvSpPr>
        <p:spPr>
          <a:xfrm>
            <a:off x="1234440" y="4014215"/>
            <a:ext cx="1828800" cy="585216"/>
          </a:xfrm>
          <a:prstGeom prst="roundRect">
            <a:avLst>
              <a:gd fmla="val 16667" name="adj"/>
            </a:avLst>
          </a:prstGeom>
          <a:solidFill>
            <a:srgbClr val="40963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5"/>
          <p:cNvSpPr txBox="1"/>
          <p:nvPr/>
        </p:nvSpPr>
        <p:spPr>
          <a:xfrm>
            <a:off x="1325880" y="4169663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Datos</a:t>
            </a:r>
            <a:endParaRPr/>
          </a:p>
        </p:txBody>
      </p:sp>
      <p:sp>
        <p:nvSpPr>
          <p:cNvPr id="370" name="Google Shape;370;p15"/>
          <p:cNvSpPr txBox="1"/>
          <p:nvPr/>
        </p:nvSpPr>
        <p:spPr>
          <a:xfrm>
            <a:off x="3337560" y="3977639"/>
            <a:ext cx="3786254" cy="6924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  <a:t>Cloud Firestore / Storage</a:t>
            </a:r>
            <a:br>
              <a:rPr b="0" lang="en-US" sz="1300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1300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  <a:t>Usuarios · Reportes · Alertas · Estados · Evidencias</a:t>
            </a:r>
            <a:endParaRPr b="0" sz="1300">
              <a:solidFill>
                <a:srgbClr val="1E26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  <a:t> · Confirmaciones · Participación</a:t>
            </a:r>
            <a:endParaRPr/>
          </a:p>
        </p:txBody>
      </p:sp>
      <p:sp>
        <p:nvSpPr>
          <p:cNvPr id="371" name="Google Shape;371;p15"/>
          <p:cNvSpPr txBox="1"/>
          <p:nvPr/>
        </p:nvSpPr>
        <p:spPr>
          <a:xfrm>
            <a:off x="9738360" y="4169663"/>
            <a:ext cx="100584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69707A"/>
                </a:solidFill>
                <a:latin typeface="Calibri"/>
                <a:ea typeface="Calibri"/>
                <a:cs typeface="Calibri"/>
                <a:sym typeface="Calibri"/>
              </a:rPr>
              <a:t>Persistencia</a:t>
            </a:r>
            <a:endParaRPr/>
          </a:p>
        </p:txBody>
      </p:sp>
      <p:cxnSp>
        <p:nvCxnSpPr>
          <p:cNvPr id="372" name="Google Shape;372;p15"/>
          <p:cNvCxnSpPr/>
          <p:nvPr/>
        </p:nvCxnSpPr>
        <p:spPr>
          <a:xfrm>
            <a:off x="6080760" y="4764024"/>
            <a:ext cx="0" cy="320040"/>
          </a:xfrm>
          <a:prstGeom prst="straightConnector1">
            <a:avLst/>
          </a:prstGeom>
          <a:noFill/>
          <a:ln cap="flat" cmpd="sng" w="19050">
            <a:solidFill>
              <a:srgbClr val="DCE4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73" name="Google Shape;373;p15"/>
          <p:cNvSpPr/>
          <p:nvPr/>
        </p:nvSpPr>
        <p:spPr>
          <a:xfrm>
            <a:off x="1097280" y="5111496"/>
            <a:ext cx="9966960" cy="914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23569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5"/>
          <p:cNvSpPr/>
          <p:nvPr/>
        </p:nvSpPr>
        <p:spPr>
          <a:xfrm>
            <a:off x="1234440" y="5276088"/>
            <a:ext cx="1828800" cy="585216"/>
          </a:xfrm>
          <a:prstGeom prst="roundRect">
            <a:avLst>
              <a:gd fmla="val 16667" name="adj"/>
            </a:avLst>
          </a:prstGeom>
          <a:solidFill>
            <a:srgbClr val="23569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5"/>
          <p:cNvSpPr txBox="1"/>
          <p:nvPr/>
        </p:nvSpPr>
        <p:spPr>
          <a:xfrm>
            <a:off x="1325880" y="5431536"/>
            <a:ext cx="164592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Servicios urbanos</a:t>
            </a:r>
            <a:endParaRPr/>
          </a:p>
        </p:txBody>
      </p:sp>
      <p:sp>
        <p:nvSpPr>
          <p:cNvPr id="376" name="Google Shape;376;p15"/>
          <p:cNvSpPr txBox="1"/>
          <p:nvPr/>
        </p:nvSpPr>
        <p:spPr>
          <a:xfrm>
            <a:off x="3337560" y="5151120"/>
            <a:ext cx="3924477" cy="7499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  <a:t>Geolocalización y mapas</a:t>
            </a:r>
            <a:br>
              <a:rPr b="0" lang="en-US" sz="1300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1300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  <a:t>Verificación comunitaria · Alertas tempranas inclusivas</a:t>
            </a:r>
            <a:br>
              <a:rPr b="0" lang="en-US" sz="1300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1300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  <a:t>Seguimiento · reconocimientos · trazabilidad</a:t>
            </a:r>
            <a:endParaRPr/>
          </a:p>
        </p:txBody>
      </p:sp>
      <p:sp>
        <p:nvSpPr>
          <p:cNvPr id="377" name="Google Shape;377;p15"/>
          <p:cNvSpPr txBox="1"/>
          <p:nvPr/>
        </p:nvSpPr>
        <p:spPr>
          <a:xfrm>
            <a:off x="9738360" y="5431536"/>
            <a:ext cx="1005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69707A"/>
                </a:solidFill>
                <a:latin typeface="Calibri"/>
                <a:ea typeface="Calibri"/>
                <a:cs typeface="Calibri"/>
                <a:sym typeface="Calibri"/>
              </a:rPr>
              <a:t>Servicios / lógica</a:t>
            </a:r>
            <a:endParaRPr/>
          </a:p>
        </p:txBody>
      </p:sp>
      <p:sp>
        <p:nvSpPr>
          <p:cNvPr id="378" name="Google Shape;378;p1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2B4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5"/>
          <p:cNvSpPr txBox="1"/>
          <p:nvPr/>
        </p:nvSpPr>
        <p:spPr>
          <a:xfrm>
            <a:off x="1173480" y="6538595"/>
            <a:ext cx="10889615" cy="285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2026  |  Ciudad Alerta  |  14</a:t>
            </a:r>
            <a:endParaRPr/>
          </a:p>
        </p:txBody>
      </p:sp>
      <p:pic>
        <p:nvPicPr>
          <p:cNvPr id="380" name="Google Shape;38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5835" y="1362562"/>
            <a:ext cx="1093514" cy="811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2235" y="2598644"/>
            <a:ext cx="1477704" cy="8541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88834" y="3876695"/>
            <a:ext cx="2925017" cy="8321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62037" y="5159396"/>
            <a:ext cx="1005841" cy="852778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12480" y="5151121"/>
            <a:ext cx="967464" cy="852778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72807" y="-311002"/>
            <a:ext cx="3816427" cy="12254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230687" y="-12023"/>
            <a:ext cx="2114550" cy="78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686123" y="1390279"/>
            <a:ext cx="2509672" cy="7398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6"/>
          <p:cNvSpPr txBox="1"/>
          <p:nvPr/>
        </p:nvSpPr>
        <p:spPr>
          <a:xfrm>
            <a:off x="548640" y="320040"/>
            <a:ext cx="5035417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0F2B4D"/>
                </a:solidFill>
                <a:latin typeface="Calibri"/>
                <a:ea typeface="Calibri"/>
                <a:cs typeface="Calibri"/>
                <a:sym typeface="Calibri"/>
              </a:rPr>
              <a:t>8. Metodología de desarrollo y EDT</a:t>
            </a:r>
            <a:endParaRPr/>
          </a:p>
        </p:txBody>
      </p:sp>
      <p:sp>
        <p:nvSpPr>
          <p:cNvPr id="393" name="Google Shape;393;p16"/>
          <p:cNvSpPr txBox="1"/>
          <p:nvPr/>
        </p:nvSpPr>
        <p:spPr>
          <a:xfrm>
            <a:off x="566928" y="914400"/>
            <a:ext cx="3222357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69707A"/>
                </a:solidFill>
                <a:latin typeface="Calibri"/>
                <a:ea typeface="Calibri"/>
                <a:cs typeface="Calibri"/>
                <a:sym typeface="Calibri"/>
              </a:rPr>
              <a:t>SCRUM como estrategia de construcción incremental</a:t>
            </a:r>
            <a:endParaRPr/>
          </a:p>
        </p:txBody>
      </p:sp>
      <p:sp>
        <p:nvSpPr>
          <p:cNvPr id="394" name="Google Shape;394;p16"/>
          <p:cNvSpPr/>
          <p:nvPr/>
        </p:nvSpPr>
        <p:spPr>
          <a:xfrm>
            <a:off x="2419985" y="1813560"/>
            <a:ext cx="1255395" cy="68707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23569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6"/>
          <p:cNvSpPr txBox="1"/>
          <p:nvPr/>
        </p:nvSpPr>
        <p:spPr>
          <a:xfrm>
            <a:off x="2486025" y="1884045"/>
            <a:ext cx="1122680" cy="5448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F2B4D"/>
                </a:solidFill>
                <a:latin typeface="Calibri"/>
                <a:ea typeface="Calibri"/>
                <a:cs typeface="Calibri"/>
                <a:sym typeface="Calibri"/>
              </a:rPr>
              <a:t>Product</a:t>
            </a:r>
            <a:endParaRPr/>
          </a:p>
          <a:p>
            <a:pPr indent="0" lvl="0" marL="0" marR="0" rtl="0" algn="ctr">
              <a:spcBef>
                <a:spcPts val="5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F2B4D"/>
                </a:solidFill>
                <a:latin typeface="Calibri"/>
                <a:ea typeface="Calibri"/>
                <a:cs typeface="Calibri"/>
                <a:sym typeface="Calibri"/>
              </a:rPr>
              <a:t>Backlog</a:t>
            </a:r>
            <a:endParaRPr/>
          </a:p>
        </p:txBody>
      </p:sp>
      <p:sp>
        <p:nvSpPr>
          <p:cNvPr id="396" name="Google Shape;396;p16"/>
          <p:cNvSpPr/>
          <p:nvPr/>
        </p:nvSpPr>
        <p:spPr>
          <a:xfrm>
            <a:off x="4801235" y="3255645"/>
            <a:ext cx="1307465" cy="771525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23569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6"/>
          <p:cNvSpPr txBox="1"/>
          <p:nvPr/>
        </p:nvSpPr>
        <p:spPr>
          <a:xfrm>
            <a:off x="4989830" y="3371850"/>
            <a:ext cx="930275" cy="5861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F2B4D"/>
                </a:solidFill>
                <a:latin typeface="Calibri"/>
                <a:ea typeface="Calibri"/>
                <a:cs typeface="Calibri"/>
                <a:sym typeface="Calibri"/>
              </a:rPr>
              <a:t>Sprint</a:t>
            </a:r>
            <a:endParaRPr/>
          </a:p>
          <a:p>
            <a:pPr indent="0" lvl="0" marL="0" marR="0" rtl="0" algn="ctr">
              <a:spcBef>
                <a:spcPts val="5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F2B4D"/>
                </a:solidFill>
                <a:latin typeface="Calibri"/>
                <a:ea typeface="Calibri"/>
                <a:cs typeface="Calibri"/>
                <a:sym typeface="Calibri"/>
              </a:rPr>
              <a:t>Planning</a:t>
            </a:r>
            <a:endParaRPr/>
          </a:p>
        </p:txBody>
      </p:sp>
      <p:sp>
        <p:nvSpPr>
          <p:cNvPr id="398" name="Google Shape;398;p16"/>
          <p:cNvSpPr/>
          <p:nvPr/>
        </p:nvSpPr>
        <p:spPr>
          <a:xfrm>
            <a:off x="2562860" y="4974590"/>
            <a:ext cx="1221740" cy="796925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23569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6"/>
          <p:cNvSpPr txBox="1"/>
          <p:nvPr/>
        </p:nvSpPr>
        <p:spPr>
          <a:xfrm>
            <a:off x="2613025" y="5168900"/>
            <a:ext cx="1062355" cy="3600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F2B4D"/>
                </a:solidFill>
                <a:latin typeface="Calibri"/>
                <a:ea typeface="Calibri"/>
                <a:cs typeface="Calibri"/>
                <a:sym typeface="Calibri"/>
              </a:rPr>
              <a:t>Desarrollo</a:t>
            </a:r>
            <a:endParaRPr/>
          </a:p>
        </p:txBody>
      </p:sp>
      <p:sp>
        <p:nvSpPr>
          <p:cNvPr id="400" name="Google Shape;400;p16"/>
          <p:cNvSpPr/>
          <p:nvPr/>
        </p:nvSpPr>
        <p:spPr>
          <a:xfrm>
            <a:off x="318135" y="3328670"/>
            <a:ext cx="996950" cy="8229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23569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6"/>
          <p:cNvSpPr txBox="1"/>
          <p:nvPr/>
        </p:nvSpPr>
        <p:spPr>
          <a:xfrm>
            <a:off x="155575" y="3604895"/>
            <a:ext cx="1322705" cy="3067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F2B4D"/>
                </a:solidFill>
                <a:latin typeface="Calibri"/>
                <a:ea typeface="Calibri"/>
                <a:cs typeface="Calibri"/>
                <a:sym typeface="Calibri"/>
              </a:rPr>
              <a:t>Review</a:t>
            </a:r>
            <a:endParaRPr/>
          </a:p>
        </p:txBody>
      </p:sp>
      <p:sp>
        <p:nvSpPr>
          <p:cNvPr id="402" name="Google Shape;402;p16"/>
          <p:cNvSpPr/>
          <p:nvPr/>
        </p:nvSpPr>
        <p:spPr>
          <a:xfrm>
            <a:off x="6693408" y="1290813"/>
            <a:ext cx="4846320" cy="4480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4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6"/>
          <p:cNvSpPr/>
          <p:nvPr/>
        </p:nvSpPr>
        <p:spPr>
          <a:xfrm>
            <a:off x="6400800" y="1325880"/>
            <a:ext cx="91440" cy="4480560"/>
          </a:xfrm>
          <a:prstGeom prst="rect">
            <a:avLst/>
          </a:prstGeom>
          <a:solidFill>
            <a:srgbClr val="40963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6"/>
          <p:cNvSpPr txBox="1"/>
          <p:nvPr/>
        </p:nvSpPr>
        <p:spPr>
          <a:xfrm>
            <a:off x="7048500" y="1685925"/>
            <a:ext cx="2579370" cy="3219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F2B4D"/>
                </a:solidFill>
                <a:latin typeface="Calibri"/>
                <a:ea typeface="Calibri"/>
                <a:cs typeface="Calibri"/>
                <a:sym typeface="Calibri"/>
              </a:rPr>
              <a:t>EDT del proyecto</a:t>
            </a:r>
            <a:endParaRPr/>
          </a:p>
        </p:txBody>
      </p:sp>
      <p:sp>
        <p:nvSpPr>
          <p:cNvPr id="405" name="Google Shape;405;p16"/>
          <p:cNvSpPr txBox="1"/>
          <p:nvPr/>
        </p:nvSpPr>
        <p:spPr>
          <a:xfrm>
            <a:off x="6693535" y="2157095"/>
            <a:ext cx="4821555" cy="25482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  <a:t>1. Inicio:</a:t>
            </a:r>
            <a:br>
              <a:rPr b="0" lang="en-US" sz="1300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1300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  <a:t>                 Problema · MVP · Requerimientos · Riesgos.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br>
              <a:rPr b="0" lang="en-US" sz="1300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1300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  <a:t>2. Desarrollo: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br>
              <a:rPr b="0" lang="en-US" sz="1300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1300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  <a:t>                  UX/UI · Web/Móvil · Firebase · Mapas ·Alertas Tempranas     </a:t>
            </a:r>
            <a:br>
              <a:rPr b="0" lang="en-US" sz="1300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1300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  <a:t>                    Inclusivas  · Pruebas.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br>
              <a:rPr b="0" lang="en-US" sz="1300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1300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  <a:t>3. Cierre: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br>
              <a:rPr b="0" lang="en-US" sz="1300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1300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  <a:t>                      Validación · Documentación · Presentación final.</a:t>
            </a:r>
            <a:endParaRPr/>
          </a:p>
        </p:txBody>
      </p:sp>
      <p:sp>
        <p:nvSpPr>
          <p:cNvPr id="406" name="Google Shape;406;p16"/>
          <p:cNvSpPr txBox="1"/>
          <p:nvPr/>
        </p:nvSpPr>
        <p:spPr>
          <a:xfrm>
            <a:off x="868680" y="6093588"/>
            <a:ext cx="10515600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F2B4D"/>
                </a:solidFill>
                <a:latin typeface="Calibri"/>
                <a:ea typeface="Calibri"/>
                <a:cs typeface="Calibri"/>
                <a:sym typeface="Calibri"/>
              </a:rPr>
              <a:t>SCRUM permite entregar valor de forma incremental y adaptar el desarrollo según la retroalimentación obtenida.</a:t>
            </a:r>
            <a:endParaRPr/>
          </a:p>
        </p:txBody>
      </p:sp>
      <p:sp>
        <p:nvSpPr>
          <p:cNvPr id="407" name="Google Shape;407;p1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2B4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6"/>
          <p:cNvSpPr txBox="1"/>
          <p:nvPr/>
        </p:nvSpPr>
        <p:spPr>
          <a:xfrm>
            <a:off x="786130" y="6551295"/>
            <a:ext cx="11320780" cy="311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2026  |  Ciudad Alerta  |  15</a:t>
            </a:r>
            <a:endParaRPr/>
          </a:p>
        </p:txBody>
      </p:sp>
      <p:pic>
        <p:nvPicPr>
          <p:cNvPr id="409" name="Google Shape;40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19985" y="3318510"/>
            <a:ext cx="1399540" cy="107188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0" name="Google Shape;410;p16"/>
          <p:cNvCxnSpPr>
            <a:stCxn id="394" idx="3"/>
          </p:cNvCxnSpPr>
          <p:nvPr/>
        </p:nvCxnSpPr>
        <p:spPr>
          <a:xfrm>
            <a:off x="3675380" y="2157095"/>
            <a:ext cx="1438200" cy="10986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411" name="Google Shape;411;p16"/>
          <p:cNvCxnSpPr/>
          <p:nvPr/>
        </p:nvCxnSpPr>
        <p:spPr>
          <a:xfrm flipH="1">
            <a:off x="3819525" y="4063365"/>
            <a:ext cx="1184910" cy="1310005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412" name="Google Shape;412;p16"/>
          <p:cNvCxnSpPr>
            <a:stCxn id="398" idx="1"/>
          </p:cNvCxnSpPr>
          <p:nvPr/>
        </p:nvCxnSpPr>
        <p:spPr>
          <a:xfrm rot="10800000">
            <a:off x="1058660" y="4164053"/>
            <a:ext cx="1504200" cy="12090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413" name="Google Shape;413;p16"/>
          <p:cNvCxnSpPr>
            <a:endCxn id="394" idx="1"/>
          </p:cNvCxnSpPr>
          <p:nvPr/>
        </p:nvCxnSpPr>
        <p:spPr>
          <a:xfrm flipH="1" rot="10800000">
            <a:off x="1058585" y="2157095"/>
            <a:ext cx="1361400" cy="11715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pic>
        <p:nvPicPr>
          <p:cNvPr id="414" name="Google Shape;41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98529" y="-189445"/>
            <a:ext cx="3816427" cy="1225402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91225" y="48689"/>
            <a:ext cx="2114550" cy="78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7"/>
          <p:cNvSpPr txBox="1"/>
          <p:nvPr/>
        </p:nvSpPr>
        <p:spPr>
          <a:xfrm>
            <a:off x="548640" y="320040"/>
            <a:ext cx="3363228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0F2B4D"/>
                </a:solidFill>
                <a:latin typeface="Calibri"/>
                <a:ea typeface="Calibri"/>
                <a:cs typeface="Calibri"/>
                <a:sym typeface="Calibri"/>
              </a:rPr>
              <a:t>9. Riesgos del proyecto</a:t>
            </a:r>
            <a:endParaRPr/>
          </a:p>
        </p:txBody>
      </p:sp>
      <p:sp>
        <p:nvSpPr>
          <p:cNvPr id="421" name="Google Shape;421;p17"/>
          <p:cNvSpPr txBox="1"/>
          <p:nvPr/>
        </p:nvSpPr>
        <p:spPr>
          <a:xfrm>
            <a:off x="566928" y="914400"/>
            <a:ext cx="442255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69707A"/>
                </a:solidFill>
                <a:latin typeface="Calibri"/>
                <a:ea typeface="Calibri"/>
                <a:cs typeface="Calibri"/>
                <a:sym typeface="Calibri"/>
              </a:rPr>
              <a:t>Identificación temprana y estrategias de mitigación</a:t>
            </a:r>
            <a:endParaRPr/>
          </a:p>
        </p:txBody>
      </p:sp>
      <p:sp>
        <p:nvSpPr>
          <p:cNvPr id="422" name="Google Shape;422;p17"/>
          <p:cNvSpPr/>
          <p:nvPr/>
        </p:nvSpPr>
        <p:spPr>
          <a:xfrm>
            <a:off x="731520" y="1325880"/>
            <a:ext cx="3657600" cy="502920"/>
          </a:xfrm>
          <a:prstGeom prst="rect">
            <a:avLst/>
          </a:prstGeom>
          <a:solidFill>
            <a:srgbClr val="0F2B4D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7"/>
          <p:cNvSpPr txBox="1"/>
          <p:nvPr/>
        </p:nvSpPr>
        <p:spPr>
          <a:xfrm>
            <a:off x="731520" y="1444752"/>
            <a:ext cx="36576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Riesgo</a:t>
            </a:r>
            <a:endParaRPr/>
          </a:p>
        </p:txBody>
      </p:sp>
      <p:sp>
        <p:nvSpPr>
          <p:cNvPr id="424" name="Google Shape;424;p17"/>
          <p:cNvSpPr/>
          <p:nvPr/>
        </p:nvSpPr>
        <p:spPr>
          <a:xfrm>
            <a:off x="4572000" y="1325880"/>
            <a:ext cx="1645920" cy="502920"/>
          </a:xfrm>
          <a:prstGeom prst="rect">
            <a:avLst/>
          </a:prstGeom>
          <a:solidFill>
            <a:srgbClr val="0F2B4D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7"/>
          <p:cNvSpPr txBox="1"/>
          <p:nvPr/>
        </p:nvSpPr>
        <p:spPr>
          <a:xfrm>
            <a:off x="4572000" y="1444752"/>
            <a:ext cx="164592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Impacto</a:t>
            </a:r>
            <a:endParaRPr/>
          </a:p>
        </p:txBody>
      </p:sp>
      <p:sp>
        <p:nvSpPr>
          <p:cNvPr id="426" name="Google Shape;426;p17"/>
          <p:cNvSpPr/>
          <p:nvPr/>
        </p:nvSpPr>
        <p:spPr>
          <a:xfrm>
            <a:off x="6217920" y="1325880"/>
            <a:ext cx="5212080" cy="502920"/>
          </a:xfrm>
          <a:prstGeom prst="rect">
            <a:avLst/>
          </a:prstGeom>
          <a:solidFill>
            <a:srgbClr val="0F2B4D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7"/>
          <p:cNvSpPr txBox="1"/>
          <p:nvPr/>
        </p:nvSpPr>
        <p:spPr>
          <a:xfrm>
            <a:off x="6217920" y="1444752"/>
            <a:ext cx="521208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Mitigación</a:t>
            </a:r>
            <a:endParaRPr/>
          </a:p>
        </p:txBody>
      </p:sp>
      <p:sp>
        <p:nvSpPr>
          <p:cNvPr id="428" name="Google Shape;428;p17"/>
          <p:cNvSpPr/>
          <p:nvPr/>
        </p:nvSpPr>
        <p:spPr>
          <a:xfrm>
            <a:off x="731520" y="1828800"/>
            <a:ext cx="3657600" cy="7132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7"/>
          <p:cNvSpPr txBox="1"/>
          <p:nvPr/>
        </p:nvSpPr>
        <p:spPr>
          <a:xfrm>
            <a:off x="804672" y="1901952"/>
            <a:ext cx="351129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  <a:t>Retraso en integración Web/Móvil/Firebase</a:t>
            </a:r>
            <a:endParaRPr/>
          </a:p>
        </p:txBody>
      </p:sp>
      <p:sp>
        <p:nvSpPr>
          <p:cNvPr id="430" name="Google Shape;430;p17"/>
          <p:cNvSpPr/>
          <p:nvPr/>
        </p:nvSpPr>
        <p:spPr>
          <a:xfrm>
            <a:off x="4572000" y="1828800"/>
            <a:ext cx="1645920" cy="7132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7"/>
          <p:cNvSpPr txBox="1"/>
          <p:nvPr/>
        </p:nvSpPr>
        <p:spPr>
          <a:xfrm>
            <a:off x="4645152" y="1901952"/>
            <a:ext cx="149961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  <a:t>ALTO</a:t>
            </a:r>
            <a:endParaRPr/>
          </a:p>
        </p:txBody>
      </p:sp>
      <p:sp>
        <p:nvSpPr>
          <p:cNvPr id="432" name="Google Shape;432;p17"/>
          <p:cNvSpPr/>
          <p:nvPr/>
        </p:nvSpPr>
        <p:spPr>
          <a:xfrm>
            <a:off x="6217920" y="1828800"/>
            <a:ext cx="5212080" cy="7132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7"/>
          <p:cNvSpPr txBox="1"/>
          <p:nvPr/>
        </p:nvSpPr>
        <p:spPr>
          <a:xfrm>
            <a:off x="6291072" y="1901952"/>
            <a:ext cx="506577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  <a:t>Desarrollo incremental por sprints y pruebas de integración tempranas.</a:t>
            </a:r>
            <a:endParaRPr/>
          </a:p>
        </p:txBody>
      </p:sp>
      <p:sp>
        <p:nvSpPr>
          <p:cNvPr id="434" name="Google Shape;434;p17"/>
          <p:cNvSpPr/>
          <p:nvPr/>
        </p:nvSpPr>
        <p:spPr>
          <a:xfrm>
            <a:off x="731520" y="2542032"/>
            <a:ext cx="3657600" cy="713232"/>
          </a:xfrm>
          <a:prstGeom prst="rect">
            <a:avLst/>
          </a:prstGeom>
          <a:solidFill>
            <a:srgbClr val="F4F7FA"/>
          </a:solidFill>
          <a:ln cap="flat" cmpd="sng" w="9525">
            <a:solidFill>
              <a:srgbClr val="DCE4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7"/>
          <p:cNvSpPr txBox="1"/>
          <p:nvPr/>
        </p:nvSpPr>
        <p:spPr>
          <a:xfrm>
            <a:off x="804672" y="2615184"/>
            <a:ext cx="351129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  <a:t>Errores de geolocalización o mapas</a:t>
            </a:r>
            <a:endParaRPr/>
          </a:p>
        </p:txBody>
      </p:sp>
      <p:sp>
        <p:nvSpPr>
          <p:cNvPr id="436" name="Google Shape;436;p17"/>
          <p:cNvSpPr/>
          <p:nvPr/>
        </p:nvSpPr>
        <p:spPr>
          <a:xfrm>
            <a:off x="4572000" y="2542032"/>
            <a:ext cx="1645920" cy="713232"/>
          </a:xfrm>
          <a:prstGeom prst="rect">
            <a:avLst/>
          </a:prstGeom>
          <a:solidFill>
            <a:srgbClr val="F4F7FA"/>
          </a:solidFill>
          <a:ln cap="flat" cmpd="sng" w="9525">
            <a:solidFill>
              <a:srgbClr val="DCE4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7"/>
          <p:cNvSpPr txBox="1"/>
          <p:nvPr/>
        </p:nvSpPr>
        <p:spPr>
          <a:xfrm>
            <a:off x="4645152" y="2615184"/>
            <a:ext cx="149961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  <a:t>ALTO</a:t>
            </a:r>
            <a:endParaRPr/>
          </a:p>
        </p:txBody>
      </p:sp>
      <p:sp>
        <p:nvSpPr>
          <p:cNvPr id="438" name="Google Shape;438;p17"/>
          <p:cNvSpPr/>
          <p:nvPr/>
        </p:nvSpPr>
        <p:spPr>
          <a:xfrm>
            <a:off x="6217920" y="2542032"/>
            <a:ext cx="5212080" cy="713232"/>
          </a:xfrm>
          <a:prstGeom prst="rect">
            <a:avLst/>
          </a:prstGeom>
          <a:solidFill>
            <a:srgbClr val="F4F7FA"/>
          </a:solidFill>
          <a:ln cap="flat" cmpd="sng" w="9525">
            <a:solidFill>
              <a:srgbClr val="DCE4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7"/>
          <p:cNvSpPr txBox="1"/>
          <p:nvPr/>
        </p:nvSpPr>
        <p:spPr>
          <a:xfrm>
            <a:off x="6291072" y="2615184"/>
            <a:ext cx="506577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  <a:t>Validar permisos, coordenadas y escenarios con GPS no disponible.</a:t>
            </a:r>
            <a:endParaRPr/>
          </a:p>
        </p:txBody>
      </p:sp>
      <p:sp>
        <p:nvSpPr>
          <p:cNvPr id="440" name="Google Shape;440;p17"/>
          <p:cNvSpPr/>
          <p:nvPr/>
        </p:nvSpPr>
        <p:spPr>
          <a:xfrm>
            <a:off x="731520" y="3255264"/>
            <a:ext cx="3657600" cy="7132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7"/>
          <p:cNvSpPr txBox="1"/>
          <p:nvPr/>
        </p:nvSpPr>
        <p:spPr>
          <a:xfrm>
            <a:off x="804672" y="3328416"/>
            <a:ext cx="351129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  <a:t>Cambios en requerimientos</a:t>
            </a:r>
            <a:endParaRPr/>
          </a:p>
        </p:txBody>
      </p:sp>
      <p:sp>
        <p:nvSpPr>
          <p:cNvPr id="442" name="Google Shape;442;p17"/>
          <p:cNvSpPr/>
          <p:nvPr/>
        </p:nvSpPr>
        <p:spPr>
          <a:xfrm>
            <a:off x="4572000" y="3255264"/>
            <a:ext cx="1645920" cy="7132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7"/>
          <p:cNvSpPr txBox="1"/>
          <p:nvPr/>
        </p:nvSpPr>
        <p:spPr>
          <a:xfrm>
            <a:off x="4645152" y="3328416"/>
            <a:ext cx="149961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  <a:t>MEDIO</a:t>
            </a:r>
            <a:endParaRPr/>
          </a:p>
        </p:txBody>
      </p:sp>
      <p:sp>
        <p:nvSpPr>
          <p:cNvPr id="444" name="Google Shape;444;p17"/>
          <p:cNvSpPr/>
          <p:nvPr/>
        </p:nvSpPr>
        <p:spPr>
          <a:xfrm>
            <a:off x="6217920" y="3255264"/>
            <a:ext cx="5212080" cy="7132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7"/>
          <p:cNvSpPr txBox="1"/>
          <p:nvPr/>
        </p:nvSpPr>
        <p:spPr>
          <a:xfrm>
            <a:off x="6291072" y="3328416"/>
            <a:ext cx="506577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  <a:t>Priorización del Product Backlog y control de alcance.</a:t>
            </a:r>
            <a:endParaRPr/>
          </a:p>
        </p:txBody>
      </p:sp>
      <p:sp>
        <p:nvSpPr>
          <p:cNvPr id="446" name="Google Shape;446;p17"/>
          <p:cNvSpPr/>
          <p:nvPr/>
        </p:nvSpPr>
        <p:spPr>
          <a:xfrm>
            <a:off x="731520" y="3968496"/>
            <a:ext cx="3657600" cy="713232"/>
          </a:xfrm>
          <a:prstGeom prst="rect">
            <a:avLst/>
          </a:prstGeom>
          <a:solidFill>
            <a:srgbClr val="F4F7FA"/>
          </a:solidFill>
          <a:ln cap="flat" cmpd="sng" w="9525">
            <a:solidFill>
              <a:srgbClr val="DCE4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7"/>
          <p:cNvSpPr txBox="1"/>
          <p:nvPr/>
        </p:nvSpPr>
        <p:spPr>
          <a:xfrm>
            <a:off x="804672" y="4041648"/>
            <a:ext cx="351129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  <a:t>Baja adopción o dificultad de uso</a:t>
            </a:r>
            <a:endParaRPr/>
          </a:p>
        </p:txBody>
      </p:sp>
      <p:sp>
        <p:nvSpPr>
          <p:cNvPr id="448" name="Google Shape;448;p17"/>
          <p:cNvSpPr/>
          <p:nvPr/>
        </p:nvSpPr>
        <p:spPr>
          <a:xfrm>
            <a:off x="4572000" y="3968496"/>
            <a:ext cx="1645920" cy="713232"/>
          </a:xfrm>
          <a:prstGeom prst="rect">
            <a:avLst/>
          </a:prstGeom>
          <a:solidFill>
            <a:srgbClr val="F4F7FA"/>
          </a:solidFill>
          <a:ln cap="flat" cmpd="sng" w="9525">
            <a:solidFill>
              <a:srgbClr val="DCE4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7"/>
          <p:cNvSpPr txBox="1"/>
          <p:nvPr/>
        </p:nvSpPr>
        <p:spPr>
          <a:xfrm>
            <a:off x="4645152" y="4041648"/>
            <a:ext cx="149961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  <a:t>MEDIO</a:t>
            </a:r>
            <a:endParaRPr/>
          </a:p>
        </p:txBody>
      </p:sp>
      <p:sp>
        <p:nvSpPr>
          <p:cNvPr id="450" name="Google Shape;450;p17"/>
          <p:cNvSpPr/>
          <p:nvPr/>
        </p:nvSpPr>
        <p:spPr>
          <a:xfrm>
            <a:off x="6217920" y="3968496"/>
            <a:ext cx="5212080" cy="713232"/>
          </a:xfrm>
          <a:prstGeom prst="rect">
            <a:avLst/>
          </a:prstGeom>
          <a:solidFill>
            <a:srgbClr val="F4F7FA"/>
          </a:solidFill>
          <a:ln cap="flat" cmpd="sng" w="9525">
            <a:solidFill>
              <a:srgbClr val="DCE4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7"/>
          <p:cNvSpPr txBox="1"/>
          <p:nvPr/>
        </p:nvSpPr>
        <p:spPr>
          <a:xfrm>
            <a:off x="6291072" y="4041648"/>
            <a:ext cx="506577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  <a:t>Diseño accesible, navegación simple y pruebas de usabilidad.</a:t>
            </a:r>
            <a:endParaRPr/>
          </a:p>
        </p:txBody>
      </p:sp>
      <p:sp>
        <p:nvSpPr>
          <p:cNvPr id="452" name="Google Shape;452;p17"/>
          <p:cNvSpPr/>
          <p:nvPr/>
        </p:nvSpPr>
        <p:spPr>
          <a:xfrm>
            <a:off x="731520" y="4681855"/>
            <a:ext cx="3657600" cy="67183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7"/>
          <p:cNvSpPr txBox="1"/>
          <p:nvPr/>
        </p:nvSpPr>
        <p:spPr>
          <a:xfrm>
            <a:off x="804672" y="4754880"/>
            <a:ext cx="351129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  <a:t>Problemas de conectividad</a:t>
            </a:r>
            <a:endParaRPr/>
          </a:p>
        </p:txBody>
      </p:sp>
      <p:sp>
        <p:nvSpPr>
          <p:cNvPr id="454" name="Google Shape;454;p17"/>
          <p:cNvSpPr/>
          <p:nvPr/>
        </p:nvSpPr>
        <p:spPr>
          <a:xfrm>
            <a:off x="4572000" y="4681728"/>
            <a:ext cx="1645920" cy="7132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7"/>
          <p:cNvSpPr txBox="1"/>
          <p:nvPr/>
        </p:nvSpPr>
        <p:spPr>
          <a:xfrm>
            <a:off x="4645152" y="4754880"/>
            <a:ext cx="149961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  <a:t>MEDIO</a:t>
            </a:r>
            <a:endParaRPr/>
          </a:p>
        </p:txBody>
      </p:sp>
      <p:sp>
        <p:nvSpPr>
          <p:cNvPr id="456" name="Google Shape;456;p17"/>
          <p:cNvSpPr/>
          <p:nvPr/>
        </p:nvSpPr>
        <p:spPr>
          <a:xfrm>
            <a:off x="6217920" y="4681728"/>
            <a:ext cx="5212080" cy="7132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7"/>
          <p:cNvSpPr txBox="1"/>
          <p:nvPr/>
        </p:nvSpPr>
        <p:spPr>
          <a:xfrm>
            <a:off x="6291072" y="4754880"/>
            <a:ext cx="506577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  <a:t>Manejo de errores, mensajes claros y pruebas con conectividad limitada.</a:t>
            </a:r>
            <a:endParaRPr/>
          </a:p>
        </p:txBody>
      </p:sp>
      <p:sp>
        <p:nvSpPr>
          <p:cNvPr id="458" name="Google Shape;458;p1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2B4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7"/>
          <p:cNvSpPr txBox="1"/>
          <p:nvPr/>
        </p:nvSpPr>
        <p:spPr>
          <a:xfrm>
            <a:off x="862330" y="6545580"/>
            <a:ext cx="11329670" cy="312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2026  |  Ciudad Alerta  |  16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7"/>
          <p:cNvSpPr/>
          <p:nvPr/>
        </p:nvSpPr>
        <p:spPr>
          <a:xfrm>
            <a:off x="731520" y="5353431"/>
            <a:ext cx="3657600" cy="713232"/>
          </a:xfrm>
          <a:prstGeom prst="rect">
            <a:avLst/>
          </a:prstGeom>
          <a:solidFill>
            <a:srgbClr val="F4F7FA"/>
          </a:solidFill>
          <a:ln cap="flat" cmpd="sng" w="9525">
            <a:solidFill>
              <a:srgbClr val="DCE4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7"/>
          <p:cNvSpPr/>
          <p:nvPr/>
        </p:nvSpPr>
        <p:spPr>
          <a:xfrm>
            <a:off x="4572000" y="5394706"/>
            <a:ext cx="1645920" cy="713232"/>
          </a:xfrm>
          <a:prstGeom prst="rect">
            <a:avLst/>
          </a:prstGeom>
          <a:solidFill>
            <a:srgbClr val="F4F7FA"/>
          </a:solidFill>
          <a:ln cap="flat" cmpd="sng" w="9525">
            <a:solidFill>
              <a:srgbClr val="DCE4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7"/>
          <p:cNvSpPr/>
          <p:nvPr/>
        </p:nvSpPr>
        <p:spPr>
          <a:xfrm>
            <a:off x="6217920" y="5394706"/>
            <a:ext cx="5212080" cy="713232"/>
          </a:xfrm>
          <a:prstGeom prst="rect">
            <a:avLst/>
          </a:prstGeom>
          <a:solidFill>
            <a:srgbClr val="F4F7FA"/>
          </a:solidFill>
          <a:ln cap="flat" cmpd="sng" w="9525">
            <a:solidFill>
              <a:srgbClr val="DCE4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7"/>
          <p:cNvSpPr txBox="1"/>
          <p:nvPr/>
        </p:nvSpPr>
        <p:spPr>
          <a:xfrm>
            <a:off x="804545" y="5430520"/>
            <a:ext cx="351155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  <a:t>Información preventiva incorrecta o desactualizada</a:t>
            </a:r>
            <a:endParaRPr/>
          </a:p>
        </p:txBody>
      </p:sp>
      <p:sp>
        <p:nvSpPr>
          <p:cNvPr id="464" name="Google Shape;464;p17"/>
          <p:cNvSpPr txBox="1"/>
          <p:nvPr/>
        </p:nvSpPr>
        <p:spPr>
          <a:xfrm>
            <a:off x="4645152" y="5430774"/>
            <a:ext cx="149961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  <a:t>ALTO</a:t>
            </a:r>
            <a:endParaRPr/>
          </a:p>
        </p:txBody>
      </p:sp>
      <p:sp>
        <p:nvSpPr>
          <p:cNvPr id="465" name="Google Shape;465;p17"/>
          <p:cNvSpPr txBox="1"/>
          <p:nvPr/>
        </p:nvSpPr>
        <p:spPr>
          <a:xfrm>
            <a:off x="6291072" y="5450713"/>
            <a:ext cx="5066030" cy="4610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  <a:t>Validar la fuente, vigencia y estado de las alertas antes de su publicación; en el MVP utilizar datos programados o simulados claramente identificados</a:t>
            </a:r>
            <a:endParaRPr/>
          </a:p>
        </p:txBody>
      </p:sp>
      <p:pic>
        <p:nvPicPr>
          <p:cNvPr id="466" name="Google Shape;46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76758" y="-216585"/>
            <a:ext cx="3816427" cy="1225402"/>
          </a:xfrm>
          <a:prstGeom prst="rect">
            <a:avLst/>
          </a:prstGeom>
          <a:noFill/>
          <a:ln>
            <a:noFill/>
          </a:ln>
        </p:spPr>
      </p:pic>
      <p:pic>
        <p:nvPicPr>
          <p:cNvPr id="467" name="Google Shape;46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94960" y="39002"/>
            <a:ext cx="2114550" cy="78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18"/>
          <p:cNvSpPr txBox="1"/>
          <p:nvPr/>
        </p:nvSpPr>
        <p:spPr>
          <a:xfrm>
            <a:off x="548640" y="320040"/>
            <a:ext cx="4600409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0F2B4D"/>
                </a:solidFill>
                <a:latin typeface="Calibri"/>
                <a:ea typeface="Calibri"/>
                <a:cs typeface="Calibri"/>
                <a:sym typeface="Calibri"/>
              </a:rPr>
              <a:t>10. Prototipo funcional (UX/UI)</a:t>
            </a:r>
            <a:endParaRPr/>
          </a:p>
        </p:txBody>
      </p:sp>
      <p:sp>
        <p:nvSpPr>
          <p:cNvPr id="473" name="Google Shape;473;p18"/>
          <p:cNvSpPr txBox="1"/>
          <p:nvPr/>
        </p:nvSpPr>
        <p:spPr>
          <a:xfrm>
            <a:off x="566928" y="914400"/>
            <a:ext cx="389882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5A6470"/>
                </a:solidFill>
                <a:latin typeface="Calibri"/>
                <a:ea typeface="Calibri"/>
                <a:cs typeface="Calibri"/>
                <a:sym typeface="Calibri"/>
              </a:rPr>
              <a:t>Demostración de los flujos reactivo, colaborativo y preventivo/inclusivo</a:t>
            </a:r>
            <a:endParaRPr/>
          </a:p>
        </p:txBody>
      </p:sp>
      <p:sp>
        <p:nvSpPr>
          <p:cNvPr id="474" name="Google Shape;474;p18"/>
          <p:cNvSpPr/>
          <p:nvPr/>
        </p:nvSpPr>
        <p:spPr>
          <a:xfrm>
            <a:off x="4262120" y="1417320"/>
            <a:ext cx="2893592" cy="96012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12375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03053"/>
                </a:solidFill>
                <a:latin typeface="Calibri"/>
                <a:ea typeface="Calibri"/>
                <a:cs typeface="Calibri"/>
                <a:sym typeface="Calibri"/>
              </a:rPr>
              <a:t>1. Reportar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03053"/>
                </a:solidFill>
                <a:latin typeface="Calibri"/>
                <a:ea typeface="Calibri"/>
                <a:cs typeface="Calibri"/>
                <a:sym typeface="Calibri"/>
              </a:rPr>
              <a:t>Foto + ubicación + categoría</a:t>
            </a:r>
            <a:endParaRPr/>
          </a:p>
        </p:txBody>
      </p:sp>
      <p:sp>
        <p:nvSpPr>
          <p:cNvPr id="475" name="Google Shape;475;p18"/>
          <p:cNvSpPr/>
          <p:nvPr/>
        </p:nvSpPr>
        <p:spPr>
          <a:xfrm>
            <a:off x="4251960" y="2651760"/>
            <a:ext cx="2903752" cy="96012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12375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03053"/>
                </a:solidFill>
                <a:latin typeface="Calibri"/>
                <a:ea typeface="Calibri"/>
                <a:cs typeface="Calibri"/>
                <a:sym typeface="Calibri"/>
              </a:rPr>
              <a:t>2. Validar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03053"/>
                </a:solidFill>
                <a:latin typeface="Calibri"/>
                <a:ea typeface="Calibri"/>
                <a:cs typeface="Calibri"/>
                <a:sym typeface="Calibri"/>
              </a:rPr>
              <a:t>Coincidencias + confirmación comunitaria</a:t>
            </a:r>
            <a:endParaRPr/>
          </a:p>
        </p:txBody>
      </p:sp>
      <p:sp>
        <p:nvSpPr>
          <p:cNvPr id="476" name="Google Shape;476;p18"/>
          <p:cNvSpPr/>
          <p:nvPr/>
        </p:nvSpPr>
        <p:spPr>
          <a:xfrm>
            <a:off x="4251960" y="3886200"/>
            <a:ext cx="2903752" cy="96012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12375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03053"/>
                </a:solidFill>
                <a:latin typeface="Calibri"/>
                <a:ea typeface="Calibri"/>
                <a:cs typeface="Calibri"/>
                <a:sym typeface="Calibri"/>
              </a:rPr>
              <a:t>3. Anticipar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03053"/>
                </a:solidFill>
                <a:latin typeface="Calibri"/>
                <a:ea typeface="Calibri"/>
                <a:cs typeface="Calibri"/>
                <a:sym typeface="Calibri"/>
              </a:rPr>
              <a:t>Alertas inclusivas + recomendación</a:t>
            </a:r>
            <a:endParaRPr/>
          </a:p>
        </p:txBody>
      </p:sp>
      <p:sp>
        <p:nvSpPr>
          <p:cNvPr id="477" name="Google Shape;477;p18"/>
          <p:cNvSpPr/>
          <p:nvPr/>
        </p:nvSpPr>
        <p:spPr>
          <a:xfrm>
            <a:off x="4251960" y="5120640"/>
            <a:ext cx="2903752" cy="96012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12375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03053"/>
                </a:solidFill>
                <a:latin typeface="Calibri"/>
                <a:ea typeface="Calibri"/>
                <a:cs typeface="Calibri"/>
                <a:sym typeface="Calibri"/>
              </a:rPr>
              <a:t>4. Participar y seguir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03053"/>
                </a:solidFill>
                <a:latin typeface="Calibri"/>
                <a:ea typeface="Calibri"/>
                <a:cs typeface="Calibri"/>
                <a:sym typeface="Calibri"/>
              </a:rPr>
              <a:t>Estado + historial + reconocimiento</a:t>
            </a:r>
            <a:endParaRPr/>
          </a:p>
        </p:txBody>
      </p:sp>
      <p:sp>
        <p:nvSpPr>
          <p:cNvPr id="478" name="Google Shape;478;p18"/>
          <p:cNvSpPr txBox="1"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0F2B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2026  |  Ciudad Alerta  |  17</a:t>
            </a:r>
            <a:endParaRPr/>
          </a:p>
        </p:txBody>
      </p:sp>
      <p:pic>
        <p:nvPicPr>
          <p:cNvPr id="479" name="Google Shape;47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0721" y="1445123"/>
            <a:ext cx="2270140" cy="4460197"/>
          </a:xfrm>
          <a:prstGeom prst="rect">
            <a:avLst/>
          </a:prstGeom>
          <a:noFill/>
          <a:ln>
            <a:noFill/>
          </a:ln>
        </p:spPr>
      </p:pic>
      <p:pic>
        <p:nvPicPr>
          <p:cNvPr id="480" name="Google Shape;48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21370" y="1460951"/>
            <a:ext cx="2450804" cy="4444369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65872" y="-272722"/>
            <a:ext cx="3816427" cy="1225402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41092" y="31433"/>
            <a:ext cx="2114550" cy="78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19"/>
          <p:cNvSpPr txBox="1"/>
          <p:nvPr/>
        </p:nvSpPr>
        <p:spPr>
          <a:xfrm>
            <a:off x="4914431" y="468477"/>
            <a:ext cx="2270140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Mockups</a:t>
            </a:r>
            <a:endParaRPr/>
          </a:p>
        </p:txBody>
      </p:sp>
      <p:pic>
        <p:nvPicPr>
          <p:cNvPr id="488" name="Google Shape;48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7127" y="1544934"/>
            <a:ext cx="2270140" cy="4460197"/>
          </a:xfrm>
          <a:prstGeom prst="rect">
            <a:avLst/>
          </a:prstGeom>
          <a:noFill/>
          <a:ln>
            <a:noFill/>
          </a:ln>
        </p:spPr>
      </p:pic>
      <p:pic>
        <p:nvPicPr>
          <p:cNvPr id="489" name="Google Shape;48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10559" y="1544934"/>
            <a:ext cx="2307740" cy="4449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81591" y="1609045"/>
            <a:ext cx="2155371" cy="4449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91" name="Google Shape;491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00254" y="1624509"/>
            <a:ext cx="2155371" cy="4454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818917" y="1624510"/>
            <a:ext cx="2155371" cy="4454609"/>
          </a:xfrm>
          <a:prstGeom prst="rect">
            <a:avLst/>
          </a:prstGeom>
          <a:noFill/>
          <a:ln>
            <a:noFill/>
          </a:ln>
        </p:spPr>
      </p:pic>
      <p:pic>
        <p:nvPicPr>
          <p:cNvPr id="493" name="Google Shape;493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386455" y="-274234"/>
            <a:ext cx="3816427" cy="1225402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19"/>
          <p:cNvSpPr txBox="1"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0F2B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2026  |  Ciudad Alerta  |  18</a:t>
            </a:r>
            <a:endParaRPr/>
          </a:p>
        </p:txBody>
      </p:sp>
      <p:pic>
        <p:nvPicPr>
          <p:cNvPr id="495" name="Google Shape;495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54922" y="0"/>
            <a:ext cx="2114550" cy="78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1" name="Google Shape;501;p20"/>
          <p:cNvGraphicFramePr/>
          <p:nvPr/>
        </p:nvGraphicFramePr>
        <p:xfrm>
          <a:off x="1721530" y="20745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{A0CA1CE7-8C70-413D-B3C8-C700CF9AC3FD}</a:tableStyleId>
              </a:tblPr>
              <a:tblGrid>
                <a:gridCol w="417600"/>
                <a:gridCol w="5909200"/>
                <a:gridCol w="2422150"/>
              </a:tblGrid>
              <a:tr h="368500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N.º</a:t>
                      </a:r>
                      <a:endParaRPr/>
                    </a:p>
                  </a:txBody>
                  <a:tcPr marT="7625" marB="0" marR="7625" marL="76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MÓDULOS Y ARTEFACTOS DEL SISTEMA</a:t>
                      </a:r>
                      <a:endParaRPr/>
                    </a:p>
                  </a:txBody>
                  <a:tcPr marT="7625" marB="0" marR="7625" marL="76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ESTADO</a:t>
                      </a:r>
                      <a:endParaRPr/>
                    </a:p>
                  </a:txBody>
                  <a:tcPr marT="7625" marB="0" marR="7625" marL="76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0C0"/>
                    </a:solidFill>
                  </a:tcPr>
                </a:tc>
              </a:tr>
              <a:tr h="371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T="7625" marB="0" marR="7625" marL="76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Registro, inicio de sesión y autenticación</a:t>
                      </a:r>
                      <a:endParaRPr/>
                    </a:p>
                  </a:txBody>
                  <a:tcPr marT="7625" marB="0" marR="7625" marL="76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Pendiente</a:t>
                      </a:r>
                      <a:endParaRPr/>
                    </a:p>
                  </a:txBody>
                  <a:tcPr marT="7625" marB="0" marR="7625" marL="76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DD7EE"/>
                    </a:solidFill>
                  </a:tcPr>
                </a:tc>
              </a:tr>
              <a:tr h="258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T="7625" marB="0" marR="7625" marL="76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Perfil y gestión de usuario</a:t>
                      </a:r>
                      <a:endParaRPr/>
                    </a:p>
                  </a:txBody>
                  <a:tcPr marT="7625" marB="0" marR="7625" marL="76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Pendiente</a:t>
                      </a:r>
                      <a:endParaRPr/>
                    </a:p>
                  </a:txBody>
                  <a:tcPr marT="7625" marB="0" marR="7625" marL="76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7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T="7625" marB="0" marR="7625" marL="76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Reporte de incidencias urbanas</a:t>
                      </a:r>
                      <a:endParaRPr/>
                    </a:p>
                  </a:txBody>
                  <a:tcPr marT="7625" marB="0" marR="7625" marL="76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Pendiente</a:t>
                      </a:r>
                      <a:endParaRPr/>
                    </a:p>
                  </a:txBody>
                  <a:tcPr marT="7625" marB="0" marR="7625" marL="76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DD7EE"/>
                    </a:solidFill>
                  </a:tcPr>
                </a:tc>
              </a:tr>
              <a:tr h="289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T="7625" marB="0" marR="7625" marL="76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Fotografía, GPS y categorización</a:t>
                      </a:r>
                      <a:endParaRPr/>
                    </a:p>
                  </a:txBody>
                  <a:tcPr marT="7625" marB="0" marR="7625" marL="76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Pendiente</a:t>
                      </a:r>
                      <a:endParaRPr/>
                    </a:p>
                  </a:txBody>
                  <a:tcPr marT="7625" marB="0" marR="7625" marL="76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9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T="7625" marB="0" marR="7625" marL="76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Detección de incidencias similares</a:t>
                      </a:r>
                      <a:endParaRPr/>
                    </a:p>
                  </a:txBody>
                  <a:tcPr marT="7625" marB="0" marR="7625" marL="76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Pendiente</a:t>
                      </a:r>
                      <a:endParaRPr/>
                    </a:p>
                  </a:txBody>
                  <a:tcPr marT="7625" marB="0" marR="7625" marL="76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DD7EE"/>
                    </a:solidFill>
                  </a:tcPr>
                </a:tc>
              </a:tr>
              <a:tr h="289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T="7625" marB="0" marR="7625" marL="76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Validación y confirmación comunitaria</a:t>
                      </a:r>
                      <a:endParaRPr/>
                    </a:p>
                  </a:txBody>
                  <a:tcPr marT="7625" marB="0" marR="7625" marL="76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Pendiente</a:t>
                      </a:r>
                      <a:endParaRPr/>
                    </a:p>
                  </a:txBody>
                  <a:tcPr marT="7625" marB="0" marR="7625" marL="76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8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/>
                    </a:p>
                  </a:txBody>
                  <a:tcPr marT="7625" marB="0" marR="7625" marL="76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Mapa y geolocalización de incidencias</a:t>
                      </a:r>
                      <a:endParaRPr/>
                    </a:p>
                  </a:txBody>
                  <a:tcPr marT="7625" marB="0" marR="7625" marL="76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Pendiente</a:t>
                      </a:r>
                      <a:endParaRPr/>
                    </a:p>
                  </a:txBody>
                  <a:tcPr marT="7625" marB="0" marR="7625" marL="76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DD7EE"/>
                    </a:solidFill>
                  </a:tcPr>
                </a:tc>
              </a:tr>
              <a:tr h="309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/>
                    </a:p>
                  </a:txBody>
                  <a:tcPr marT="7625" marB="0" marR="7625" marL="76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Seguimiento, estados y enrutamiento</a:t>
                      </a:r>
                      <a:endParaRPr/>
                    </a:p>
                  </a:txBody>
                  <a:tcPr marT="7625" marB="0" marR="7625" marL="76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Pendiente</a:t>
                      </a:r>
                      <a:endParaRPr/>
                    </a:p>
                  </a:txBody>
                  <a:tcPr marT="7625" marB="0" marR="7625" marL="76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T="7625" marB="0" marR="7625" marL="76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Alertas tempranas inclusivas y notificaciones</a:t>
                      </a:r>
                      <a:endParaRPr/>
                    </a:p>
                  </a:txBody>
                  <a:tcPr marT="7625" marB="0" marR="7625" marL="76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Pendiente</a:t>
                      </a:r>
                      <a:endParaRPr/>
                    </a:p>
                  </a:txBody>
                  <a:tcPr marT="7625" marB="0" marR="7625" marL="76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DD7EE"/>
                    </a:solidFill>
                  </a:tcPr>
                </a:tc>
              </a:tr>
              <a:tr h="247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/>
                    </a:p>
                  </a:txBody>
                  <a:tcPr marT="7625" marB="0" marR="7625" marL="76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Participación y reconocimiento ciudadano</a:t>
                      </a:r>
                      <a:endParaRPr/>
                    </a:p>
                  </a:txBody>
                  <a:tcPr marT="7625" marB="0" marR="7625" marL="76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Pendiente</a:t>
                      </a:r>
                      <a:endParaRPr/>
                    </a:p>
                  </a:txBody>
                  <a:tcPr marT="7625" marB="0" marR="7625" marL="76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8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/>
                    </a:p>
                  </a:txBody>
                  <a:tcPr marT="7625" marB="0" marR="7625" marL="76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Panel web de administración</a:t>
                      </a:r>
                      <a:endParaRPr/>
                    </a:p>
                  </a:txBody>
                  <a:tcPr marT="7625" marB="0" marR="7625" marL="76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Pendiente</a:t>
                      </a:r>
                      <a:endParaRPr/>
                    </a:p>
                  </a:txBody>
                  <a:tcPr marT="7625" marB="0" marR="7625" marL="76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DD7EE"/>
                    </a:solidFill>
                  </a:tcPr>
                </a:tc>
              </a:tr>
              <a:tr h="247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/>
                    </a:p>
                  </a:txBody>
                  <a:tcPr marT="7625" marB="0" marR="7625" marL="76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Prototipo / Demo interactiva Ciudad Alerta</a:t>
                      </a:r>
                      <a:endParaRPr/>
                    </a:p>
                  </a:txBody>
                  <a:tcPr marT="7625" marB="0" marR="7625" marL="76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 desarrollo</a:t>
                      </a:r>
                      <a:endParaRPr/>
                    </a:p>
                  </a:txBody>
                  <a:tcPr marT="7625" marB="0" marR="7625" marL="76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02" name="Google Shape;502;p20"/>
          <p:cNvSpPr txBox="1"/>
          <p:nvPr/>
        </p:nvSpPr>
        <p:spPr>
          <a:xfrm>
            <a:off x="3788229" y="634426"/>
            <a:ext cx="6096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Gestión del desarrollo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0"/>
          <p:cNvSpPr txBox="1"/>
          <p:nvPr/>
        </p:nvSpPr>
        <p:spPr>
          <a:xfrm>
            <a:off x="2252180" y="1716352"/>
            <a:ext cx="7837537" cy="5554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construcción funcional de estos módulos se desarrollará en las siguientes fases y Sprints del proyecto.</a:t>
            </a:r>
            <a:endParaRPr/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4" name="Google Shape;50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75573" y="-68523"/>
            <a:ext cx="3816427" cy="1225402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20"/>
          <p:cNvSpPr txBox="1"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0F2B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2026  |  Ciudad Alerta  |  19</a:t>
            </a:r>
            <a:endParaRPr/>
          </a:p>
        </p:txBody>
      </p:sp>
      <p:sp>
        <p:nvSpPr>
          <p:cNvPr id="506" name="Google Shape;506;p20"/>
          <p:cNvSpPr txBox="1"/>
          <p:nvPr/>
        </p:nvSpPr>
        <p:spPr>
          <a:xfrm>
            <a:off x="2616318" y="1314735"/>
            <a:ext cx="6328881" cy="5554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Estado de implementación de los módulos definidos para el MVP  de Ciudad Alerta.</a:t>
            </a:r>
            <a:endParaRPr/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7" name="Google Shape;50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6591" y="5930959"/>
            <a:ext cx="2533650" cy="48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4161" y="343969"/>
            <a:ext cx="2114550" cy="78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21"/>
          <p:cNvSpPr txBox="1"/>
          <p:nvPr/>
        </p:nvSpPr>
        <p:spPr>
          <a:xfrm>
            <a:off x="1097280" y="2651760"/>
            <a:ext cx="996696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F2B4D"/>
                </a:solidFill>
                <a:latin typeface="Calibri"/>
                <a:ea typeface="Calibri"/>
                <a:cs typeface="Calibri"/>
                <a:sym typeface="Calibri"/>
              </a:rPr>
              <a:t>Próxima etapa: Construcción del MVP</a:t>
            </a:r>
            <a:endParaRPr/>
          </a:p>
        </p:txBody>
      </p:sp>
      <p:sp>
        <p:nvSpPr>
          <p:cNvPr id="514" name="Google Shape;514;p21"/>
          <p:cNvSpPr txBox="1"/>
          <p:nvPr/>
        </p:nvSpPr>
        <p:spPr>
          <a:xfrm>
            <a:off x="1920240" y="3657600"/>
            <a:ext cx="8321040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  <a:t>✓  Implementación de autenticación y roles.</a:t>
            </a:r>
            <a:br>
              <a:rPr b="0" lang="en-US" sz="1600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1600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  <a:t>✓  Registro de incidencias con foto y geolocalización.</a:t>
            </a:r>
            <a:br>
              <a:rPr b="0" lang="en-US" sz="1600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1600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  <a:t>✓  Detección de duplicados y confirmación comunitaria.</a:t>
            </a:r>
            <a:br>
              <a:rPr b="0" lang="en-US" sz="1600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1600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  <a:t>✓  Alertas Tempranas Inclusivas.</a:t>
            </a:r>
            <a:br>
              <a:rPr b="0" lang="en-US" sz="1600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1600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  <a:t>✓  Reconocimiento e historial de participación.</a:t>
            </a:r>
            <a:br>
              <a:rPr b="0" lang="en-US" sz="1600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1600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  <a:t>✓  Seguimiento, pruebas de usabilidad y validación.</a:t>
            </a:r>
            <a:endParaRPr/>
          </a:p>
        </p:txBody>
      </p:sp>
      <p:sp>
        <p:nvSpPr>
          <p:cNvPr id="515" name="Google Shape;515;p21"/>
          <p:cNvSpPr/>
          <p:nvPr/>
        </p:nvSpPr>
        <p:spPr>
          <a:xfrm>
            <a:off x="1828800" y="5440680"/>
            <a:ext cx="8503920" cy="65836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40963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21"/>
          <p:cNvSpPr txBox="1"/>
          <p:nvPr/>
        </p:nvSpPr>
        <p:spPr>
          <a:xfrm>
            <a:off x="2011680" y="5596128"/>
            <a:ext cx="8138160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40963E"/>
                </a:solidFill>
                <a:latin typeface="Calibri"/>
                <a:ea typeface="Calibri"/>
                <a:cs typeface="Calibri"/>
                <a:sym typeface="Calibri"/>
              </a:rPr>
              <a:t>Ciudad Alerta · Reporta · Verifica · Conecta</a:t>
            </a:r>
            <a:endParaRPr/>
          </a:p>
        </p:txBody>
      </p:sp>
      <p:sp>
        <p:nvSpPr>
          <p:cNvPr id="517" name="Google Shape;517;p2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2B4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1"/>
          <p:cNvSpPr txBox="1"/>
          <p:nvPr/>
        </p:nvSpPr>
        <p:spPr>
          <a:xfrm>
            <a:off x="880745" y="6556375"/>
            <a:ext cx="11311255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2026  |  Ciudad Alerta  |  20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_clean_vector_style_monochrome_black_and_white_g.png" id="519" name="Google Shape;51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34840" y="594360"/>
            <a:ext cx="2441695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0" name="Google Shape;52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24506" y="-264339"/>
            <a:ext cx="3816427" cy="1225402"/>
          </a:xfrm>
          <a:prstGeom prst="rect">
            <a:avLst/>
          </a:prstGeom>
          <a:noFill/>
          <a:ln>
            <a:noFill/>
          </a:ln>
        </p:spPr>
      </p:pic>
      <p:pic>
        <p:nvPicPr>
          <p:cNvPr id="521" name="Google Shape;521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9030" y="297836"/>
            <a:ext cx="2114550" cy="78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2013-01-27T09:14:00Z</dcterms:created>
  <dc:creator>Lenovo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2058-12.1.0.28032</vt:lpwstr>
  </property>
  <property fmtid="{D5CDD505-2E9C-101B-9397-08002B2CF9AE}" pid="3" name="ICV">
    <vt:lpwstr>812A30C11C5C410F9C1D153319184E4A_13</vt:lpwstr>
  </property>
</Properties>
</file>
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21">
          <p15:clr>
            <a:srgbClr val="A4A3A4"/>
          </p15:clr>
        </p15:guide>
        <p15:guide id="2" pos="2926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vbbUePz0k+rxvzDtd0ouZOeWF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64E2C5-EE56-49AD-9851-7BD69E86B998}">
  <a:tblStyle styleId="{3564E2C5-EE56-49AD-9851-7BD69E86B9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427F3EC-7750-459F-9BF6-E1226F07ACB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1" orient="horz"/>
        <p:guide pos="292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9b249a4b6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f9b249a4b6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9b249a4b6_2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f9b249a4b6_2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10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36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11" Type="http://schemas.openxmlformats.org/officeDocument/2006/relationships/image" Target="../media/image1.png"/><Relationship Id="rId10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10" Type="http://schemas.openxmlformats.org/officeDocument/2006/relationships/image" Target="../media/image1.png"/><Relationship Id="rId9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9.png"/><Relationship Id="rId9" Type="http://schemas.openxmlformats.org/officeDocument/2006/relationships/image" Target="../media/image1.png"/><Relationship Id="rId5" Type="http://schemas.openxmlformats.org/officeDocument/2006/relationships/image" Target="../media/image40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1.png"/><Relationship Id="rId5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5598160" y="1300480"/>
            <a:ext cx="5078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Ciudad Alerta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799455" y="3218180"/>
            <a:ext cx="4537710" cy="953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Presentación Fase 1 – Proyecto Capstone 2026-2</a:t>
            </a:r>
            <a:b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Duoc UC : Ingeniería en Informática</a:t>
            </a:r>
            <a:b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Profesor: Jorge Guzmán Bozo</a:t>
            </a:r>
            <a:b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Equipo: Claudio Torres · Esteban Ibarra · Rodrigo Hernández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238294" y="4629149"/>
            <a:ext cx="6027938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995670" y="4732020"/>
            <a:ext cx="451294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35696"/>
                </a:solidFill>
                <a:latin typeface="Calibri"/>
                <a:ea typeface="Calibri"/>
                <a:cs typeface="Calibri"/>
                <a:sym typeface="Calibri"/>
              </a:rPr>
              <a:t>“Reporta · Verifica · Conecta”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141595" y="5344795"/>
            <a:ext cx="6248400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Plataforma de inteligencia urbana comunitaria para reportar y gestionar incidencias.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61060" y="6549390"/>
            <a:ext cx="11265535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_clean_vector_style_monochrome_black_and_white_g.png"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615" y="337185"/>
            <a:ext cx="4351655" cy="326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2142" y="-41127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368" y="5420235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548640" y="320040"/>
            <a:ext cx="235250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1. 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3219958" y="721360"/>
            <a:ext cx="235192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¿Qué problema estamos resolviendo?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40080" y="1417320"/>
            <a:ext cx="356616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40080" y="1417320"/>
            <a:ext cx="91440" cy="438912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492885" y="1920240"/>
            <a:ext cx="163004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Situación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22950" y="2619250"/>
            <a:ext cx="3392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Cuando una persona detecta un problema urbano, suele enfrentar canales fragmentados, poca claridad sobre quién debe resolverlo y escaso seguimiento del reporte.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315968" y="1417320"/>
            <a:ext cx="3566160" cy="4389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215003" y="1417320"/>
            <a:ext cx="91440" cy="438912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504180" y="1877695"/>
            <a:ext cx="139128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Consecuencias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526155" y="2619248"/>
            <a:ext cx="3246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Reportes dispersos en distintos canales.</a:t>
            </a:r>
            <a:b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Dificultad para identificar al organismo responsable.</a:t>
            </a:r>
            <a:b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Duplicidad y baja trazabilidad.</a:t>
            </a:r>
            <a:b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Poca visibilidad del estado del problema.</a:t>
            </a:r>
            <a:b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Barreras para personas con movilidad reducida.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891656" y="1417320"/>
            <a:ext cx="3566100" cy="438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891526" y="1417320"/>
            <a:ext cx="91440" cy="43891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790305" y="1876425"/>
            <a:ext cx="2171065" cy="321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Necesidad detectada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322740" y="2708595"/>
            <a:ext cx="3044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Contar con una plataforma única para reportar incidencias con foto y ubicación, verificarlo, clasificarlas, derivarlas y hacer seguimiento desde móvil o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88365" y="6556375"/>
            <a:ext cx="1124712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" title="duocuc_logo_transparen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761" y="54060"/>
            <a:ext cx="3812724" cy="12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8190" y="14372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/>
        </p:nvSpPr>
        <p:spPr>
          <a:xfrm>
            <a:off x="548640" y="320040"/>
            <a:ext cx="317926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2. Solución propuesta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" y="914400"/>
            <a:ext cx="2957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 central de Ciudad Alerta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8580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399032" y="1993392"/>
            <a:ext cx="640080" cy="640080"/>
          </a:xfrm>
          <a:prstGeom prst="ellipse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55448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86868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Reportar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894207" y="3196463"/>
            <a:ext cx="17373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Foto · ubicación · descripción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3"/>
          <p:cNvCxnSpPr/>
          <p:nvPr/>
        </p:nvCxnSpPr>
        <p:spPr>
          <a:xfrm>
            <a:off x="2743200" y="27432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2" name="Google Shape;132;p3"/>
          <p:cNvSpPr/>
          <p:nvPr/>
        </p:nvSpPr>
        <p:spPr>
          <a:xfrm>
            <a:off x="352044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4233672" y="1993392"/>
            <a:ext cx="640080" cy="640080"/>
          </a:xfrm>
          <a:prstGeom prst="ellipse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438912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370332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Verificar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3"/>
          <p:cNvCxnSpPr/>
          <p:nvPr/>
        </p:nvCxnSpPr>
        <p:spPr>
          <a:xfrm>
            <a:off x="5577840" y="27432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37" name="Google Shape;137;p3"/>
          <p:cNvSpPr/>
          <p:nvPr/>
        </p:nvSpPr>
        <p:spPr>
          <a:xfrm>
            <a:off x="635508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7068312" y="1993392"/>
            <a:ext cx="640080" cy="640080"/>
          </a:xfrm>
          <a:prstGeom prst="ellipse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722376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653796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Enrutar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515114" y="3119518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Categoría · organismo responsable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3"/>
          <p:cNvCxnSpPr/>
          <p:nvPr/>
        </p:nvCxnSpPr>
        <p:spPr>
          <a:xfrm>
            <a:off x="8412480" y="27432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3"/>
          <p:cNvSpPr/>
          <p:nvPr/>
        </p:nvSpPr>
        <p:spPr>
          <a:xfrm>
            <a:off x="9189720" y="1828800"/>
            <a:ext cx="2057400" cy="182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902952" y="1993392"/>
            <a:ext cx="640080" cy="640080"/>
          </a:xfrm>
          <a:prstGeom prst="ellipse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10058400" y="2148840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9372600" y="27432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Seguimiento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9354312" y="3127248"/>
            <a:ext cx="17373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Estado · mapa · trazabilidad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1143000" y="5085715"/>
            <a:ext cx="987552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Ciudad Alerta integra reporte ciudadano, geolocalización, detección de posibles duplicados, validación comunitaria, enrutamiento y seguimiento; además incorpora alertas tempranas inclusivas y reconocimiento por colaboración.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81710" y="6547485"/>
            <a:ext cx="11210290" cy="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3745992" y="3099943"/>
            <a:ext cx="17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Coincidencias · Confirmación comunitaria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3" title="duocuc_logo_transparen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8971" y="-29272"/>
            <a:ext cx="3812724" cy="12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9140" y="160238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6053328" y="1280160"/>
            <a:ext cx="27432" cy="4983480"/>
          </a:xfrm>
          <a:prstGeom prst="rect">
            <a:avLst/>
          </a:prstGeom>
          <a:solidFill>
            <a:srgbClr val="DCE4E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777240" y="12344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PERFIL DEL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355080" y="123444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MAPA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85800" y="1737360"/>
            <a:ext cx="49834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85800" y="1737360"/>
            <a:ext cx="91440" cy="123444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68680" y="1874519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Tareas del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87095" y="2168398"/>
            <a:ext cx="466344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Reportar problemas urbanos, aportar evidencia, consultar su estado, verificar incidencias cercanas y recibir alertas preventivas sobre condiciones que puedan afectar su entorno.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85800" y="3200400"/>
            <a:ext cx="49834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85800" y="3200400"/>
            <a:ext cx="91440" cy="123444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868680" y="333756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Dolores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1005840" y="3624453"/>
            <a:ext cx="466344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Canales dispersos, desconocimiento del responsable, falta de seguimiento y escasa información anticipada sobre situaciones que pueden afectar la movilidad y accesibilidad.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85800" y="4663440"/>
            <a:ext cx="498348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85800" y="4663440"/>
            <a:ext cx="91440" cy="123444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868680" y="4800600"/>
            <a:ext cx="47091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Ganancias esperadas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887095" y="5080508"/>
            <a:ext cx="4663440" cy="691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Reporte simple, seguimiento visible, información accesible y alertas preventivas que permitan anticipar condiciones del entorno y planificar alternativas.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355080" y="173736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355080" y="1737360"/>
            <a:ext cx="91440" cy="123444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537960" y="1874519"/>
            <a:ext cx="4800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Productos y servicios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6556375" y="2235708"/>
            <a:ext cx="475488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Aplicación móvil y portal web, reportes geolocalizados, mapa urbano, verificación comunitaria, seguimiento, panel de gestión y alertas tempranas inclusivas.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355080" y="320040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355080" y="3200400"/>
            <a:ext cx="91440" cy="123444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6537960" y="3337560"/>
            <a:ext cx="4800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Aliviadores del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6556375" y="3686683"/>
            <a:ext cx="4754880" cy="429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Centraliza los reportes, reduce duplicidades, orienta su derivación, mantiene trazabilidad y entrega información preventiva sobre situaciones del entorno.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355080" y="4663440"/>
            <a:ext cx="5074920" cy="1234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6355080" y="4663440"/>
            <a:ext cx="91440" cy="123444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537960" y="4800600"/>
            <a:ext cx="48006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Creadores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6556375" y="5166233"/>
            <a:ext cx="4754880" cy="598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Participación ciudadana, información territorial, prevención inclusiva, accesibilidad y seguimiento transparente para apoyar decisiones y anticipar situaciones de riesgo.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953770" y="6528435"/>
            <a:ext cx="11238230" cy="338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4985" y="-99740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549542" y="196400"/>
            <a:ext cx="325046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3. Propuesta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4156" y="0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384048" y="228600"/>
            <a:ext cx="6302366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A3259"/>
                </a:solidFill>
                <a:latin typeface="Arial"/>
                <a:ea typeface="Arial"/>
                <a:cs typeface="Arial"/>
                <a:sym typeface="Arial"/>
              </a:rPr>
              <a:t>3.1 Customer Journey Map – Ciudad Alerta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1720817" y="779334"/>
            <a:ext cx="61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6606C"/>
                </a:solidFill>
                <a:latin typeface="Calibri"/>
                <a:ea typeface="Calibri"/>
                <a:cs typeface="Calibri"/>
                <a:sym typeface="Calibri"/>
              </a:rPr>
              <a:t>Recorrido del ciudadano desde el descubrimiento hasta la participación sostenida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6" name="Google Shape;196;p5"/>
          <p:cNvGraphicFramePr/>
          <p:nvPr/>
        </p:nvGraphicFramePr>
        <p:xfrm>
          <a:off x="384175" y="1160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{3564E2C5-EE56-49AD-9851-7BD69E86B998}</a:tableStyleId>
              </a:tblPr>
              <a:tblGrid>
                <a:gridCol w="1691650"/>
                <a:gridCol w="2148850"/>
                <a:gridCol w="2926075"/>
                <a:gridCol w="4645025"/>
              </a:tblGrid>
              <a:tr h="39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ETAPA</a:t>
                      </a:r>
                      <a:endParaRPr sz="1400" u="none" cap="none" strike="noStrike"/>
                    </a:p>
                  </a:txBody>
                  <a:tcPr marT="45725" marB="36575" marR="73150" marL="73150">
                    <a:solidFill>
                      <a:srgbClr val="2F5F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EMOCIÓN</a:t>
                      </a:r>
                      <a:endParaRPr sz="1400" u="none" cap="none" strike="noStrike"/>
                    </a:p>
                  </a:txBody>
                  <a:tcPr marT="45725" marB="36575" marR="73150" marL="73150">
                    <a:solidFill>
                      <a:srgbClr val="41A0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PUNTO DE CONTACTO</a:t>
                      </a:r>
                      <a:endParaRPr sz="1400" u="none" cap="none" strike="noStrike"/>
                    </a:p>
                  </a:txBody>
                  <a:tcPr marT="45725" marB="36575" marR="73150" marL="73150">
                    <a:solidFill>
                      <a:srgbClr val="41A0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ACCIÓN</a:t>
                      </a:r>
                      <a:endParaRPr sz="1400" u="none" cap="none" strike="noStrike"/>
                    </a:p>
                  </a:txBody>
                  <a:tcPr marT="45725" marB="36575" marR="73150" marL="73150">
                    <a:solidFill>
                      <a:srgbClr val="41A048"/>
                    </a:solidFill>
                  </a:tcPr>
                </a:tc>
              </a:tr>
              <a:tr h="74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DESCUBRIMIENTO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Curiosidad e interés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Redes sociales · QR · web · difusión comunitaria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Conoce Ciudad Alerta y descubre que puede consultar y reportar incidencias urbanas.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CONSIDERACIÓN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Interés, expectativa y dudas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 · mapa · información del proyecto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Revisa reportes, geolocalización, alertas, seguimiento y utilidad de la aplicación.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Confianza y motivación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· inicio de sesión · preferencias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 su cuenta, configura preferencias y selecciona las alertas que desea recibir.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Y VALIDACIÓN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Participación y responsabilidad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Formulario · cámara · GPS · coincidencias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 una incidencia; si existe una similar, puede confirmarla y evitar duplicados.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SEGUIMIENTO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Confianza e interés por el resultado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Notificaciones · mapa · historial · estado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confirmaciones, derivación, avance y cierre; también recibe alertas preventivas.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  <a:tr h="74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FIDELIZACIÓN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EC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Satisfacción y pertenencia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 · historial · reconocimientos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Recibe reconocimiento por aportes validados y continúa colaborando con la comunidad.</a:t>
                      </a:r>
                      <a:endParaRPr sz="1400" u="none" cap="none" strike="noStrike"/>
                    </a:p>
                  </a:txBody>
                  <a:tcPr marT="45725" marB="36575" marR="73150" marL="7315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5"/>
          <p:cNvSpPr txBox="1"/>
          <p:nvPr/>
        </p:nvSpPr>
        <p:spPr>
          <a:xfrm>
            <a:off x="3015046" y="6139675"/>
            <a:ext cx="559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1A048"/>
                </a:solidFill>
                <a:latin typeface="Arial"/>
                <a:ea typeface="Arial"/>
                <a:cs typeface="Arial"/>
                <a:sym typeface="Arial"/>
              </a:rPr>
              <a:t>Ciudad Alerta · Reporta · Verifica · Conecta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573" y="-196555"/>
            <a:ext cx="3816427" cy="122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2070" y="0"/>
            <a:ext cx="12384072" cy="653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5872" y="-155501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 txBox="1"/>
          <p:nvPr/>
        </p:nvSpPr>
        <p:spPr>
          <a:xfrm>
            <a:off x="8465872" y="6488668"/>
            <a:ext cx="3704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6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912" y="0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7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932650" cy="62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/>
          <p:nvPr/>
        </p:nvSpPr>
        <p:spPr>
          <a:xfrm>
            <a:off x="817250" y="2281687"/>
            <a:ext cx="1404372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2794883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revisión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804763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829328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proceso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8732274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Resuelto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0517433" y="2281687"/>
            <a:ext cx="1329685" cy="148844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3420069" y="247775"/>
            <a:ext cx="6395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A3259"/>
                </a:solidFill>
                <a:latin typeface="Arial"/>
                <a:ea typeface="Arial"/>
                <a:cs typeface="Arial"/>
                <a:sym typeface="Arial"/>
              </a:rPr>
              <a:t>ESTADOS DE INCIDENCIA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32" y="2453633"/>
            <a:ext cx="598868" cy="49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7064" y="2544424"/>
            <a:ext cx="324387" cy="40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40668" y="2489085"/>
            <a:ext cx="288856" cy="32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90188" y="2431952"/>
            <a:ext cx="369582" cy="36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42391" y="2424621"/>
            <a:ext cx="320841" cy="32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5220" y="2402489"/>
            <a:ext cx="266756" cy="3429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8"/>
          <p:cNvCxnSpPr>
            <a:endCxn id="221" idx="1"/>
          </p:cNvCxnSpPr>
          <p:nvPr/>
        </p:nvCxnSpPr>
        <p:spPr>
          <a:xfrm flipH="1" rot="10800000">
            <a:off x="2221583" y="3025907"/>
            <a:ext cx="573300" cy="6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4" name="Google Shape;234;p8"/>
          <p:cNvCxnSpPr>
            <a:endCxn id="222" idx="1"/>
          </p:cNvCxnSpPr>
          <p:nvPr/>
        </p:nvCxnSpPr>
        <p:spPr>
          <a:xfrm flipH="1" rot="10800000">
            <a:off x="4124663" y="3025907"/>
            <a:ext cx="680100" cy="6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5" name="Google Shape;235;p8"/>
          <p:cNvCxnSpPr>
            <a:endCxn id="223" idx="1"/>
          </p:cNvCxnSpPr>
          <p:nvPr/>
        </p:nvCxnSpPr>
        <p:spPr>
          <a:xfrm flipH="1" rot="10800000">
            <a:off x="6134528" y="3025907"/>
            <a:ext cx="694800" cy="15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6" name="Google Shape;236;p8"/>
          <p:cNvCxnSpPr>
            <a:endCxn id="224" idx="1"/>
          </p:cNvCxnSpPr>
          <p:nvPr/>
        </p:nvCxnSpPr>
        <p:spPr>
          <a:xfrm>
            <a:off x="8164674" y="3024707"/>
            <a:ext cx="567600" cy="12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7" name="Google Shape;237;p8"/>
          <p:cNvCxnSpPr>
            <a:stCxn id="224" idx="3"/>
            <a:endCxn id="225" idx="1"/>
          </p:cNvCxnSpPr>
          <p:nvPr/>
        </p:nvCxnSpPr>
        <p:spPr>
          <a:xfrm>
            <a:off x="10061959" y="3025907"/>
            <a:ext cx="4554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8"/>
          <p:cNvSpPr/>
          <p:nvPr/>
        </p:nvSpPr>
        <p:spPr>
          <a:xfrm>
            <a:off x="3974275" y="3993775"/>
            <a:ext cx="4047600" cy="2431500"/>
          </a:xfrm>
          <a:prstGeom prst="roundRect">
            <a:avLst>
              <a:gd fmla="val 16667" name="adj"/>
            </a:avLst>
          </a:prstGeom>
          <a:solidFill>
            <a:srgbClr val="FFF7E1"/>
          </a:solidFill>
          <a:ln cap="flat" cmpd="sng" w="9525">
            <a:solidFill>
              <a:srgbClr val="DC91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Principales: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Ubicación(GPS)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 (Foto)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 y hora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817242" y="1264718"/>
            <a:ext cx="5475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A3259"/>
                </a:solidFill>
                <a:latin typeface="Arial"/>
                <a:ea typeface="Arial"/>
                <a:cs typeface="Arial"/>
                <a:sym typeface="Arial"/>
              </a:rPr>
              <a:t>Gestión de Incidencias Urbanas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48470" y="-254908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8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072" y="95821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 txBox="1"/>
          <p:nvPr/>
        </p:nvSpPr>
        <p:spPr>
          <a:xfrm>
            <a:off x="640080" y="320040"/>
            <a:ext cx="6939913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3.2 Valor diferencial: Alerta Temprana Inclusiva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640080" y="868680"/>
            <a:ext cx="754456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6E78"/>
                </a:solidFill>
                <a:latin typeface="Calibri"/>
                <a:ea typeface="Calibri"/>
                <a:cs typeface="Calibri"/>
                <a:sym typeface="Calibri"/>
              </a:rPr>
              <a:t>Ciudad Alerta evoluciona desde una solución reactiva hacia una plataforma preventiva, territorial e inclusiva.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85800" y="1508760"/>
            <a:ext cx="224028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Fuente de alerta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Cortes de energía o agua, fallas de accesibilidad, vías bloqueadas y cierres programados.</a:t>
            </a:r>
            <a:br>
              <a:rPr b="0" i="0" lang="en-US" sz="1100" u="none" cap="none" strike="noStrike">
                <a:solidFill>
                  <a:srgbClr val="3C4146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44475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3520440" y="1508760"/>
            <a:ext cx="224040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Zona afectada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Geolocalización del evento y visualización del sector afectado en el mapa.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27939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428740" y="1508760"/>
            <a:ext cx="224028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Impacto de             accesibilidad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Evalúa cómo la alerta puede afectar la movilidad, accesibilidad o autonomía de     las personas.</a:t>
            </a: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800" u="none" cap="none" strike="noStrike">
              <a:solidFill>
                <a:schemeClr val="lt1"/>
              </a:solidFill>
              <a:highlight>
                <a:srgbClr val="00008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11403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9189720" y="1508760"/>
            <a:ext cx="2240280" cy="20574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2375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Aviso anticipado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C4146"/>
                </a:solidFill>
                <a:latin typeface="Calibri"/>
                <a:ea typeface="Calibri"/>
                <a:cs typeface="Calibri"/>
                <a:sym typeface="Calibri"/>
              </a:rPr>
              <a:t>Notificación  al Usuario con anticipación y entrega de recomendaciones para planificar alternativas.</a:t>
            </a:r>
            <a:br>
              <a:rPr b="0" i="0" lang="en-US" sz="1200" u="none" cap="none" strike="noStrike">
                <a:solidFill>
                  <a:srgbClr val="3C414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lt1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948672" y="1298448"/>
            <a:ext cx="713232" cy="713232"/>
          </a:xfrm>
          <a:prstGeom prst="ellipse">
            <a:avLst/>
          </a:prstGeom>
          <a:solidFill>
            <a:srgbClr val="12375B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731520" y="3977639"/>
            <a:ext cx="5394900" cy="1600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4296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307D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07D32"/>
                </a:solidFill>
                <a:latin typeface="Calibri"/>
                <a:ea typeface="Calibri"/>
                <a:cs typeface="Calibri"/>
                <a:sym typeface="Calibri"/>
              </a:rPr>
              <a:t>Enfoque Inclusivo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307D32"/>
                </a:solidFill>
                <a:latin typeface="Calibri"/>
                <a:ea typeface="Calibri"/>
                <a:cs typeface="Calibri"/>
                <a:sym typeface="Calibri"/>
              </a:rPr>
              <a:t>Prioriza información preventiva y accesible para personas con discapacidad, movilidad reducida  y adultos mayores. </a:t>
            </a:r>
            <a:endParaRPr b="1" i="0" sz="1700" u="none" cap="none" strike="noStrike">
              <a:solidFill>
                <a:srgbClr val="307D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355080" y="3977639"/>
            <a:ext cx="5074800" cy="16002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Alcance del MVP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Alertas preventivas con datos programados o simulados. Las interacciones reales con municipios y empresas de servicios se consideran una evolución futura.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616668" y="5760720"/>
            <a:ext cx="1092818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2375B"/>
                </a:solidFill>
                <a:latin typeface="Calibri"/>
                <a:ea typeface="Calibri"/>
                <a:cs typeface="Calibri"/>
                <a:sym typeface="Calibri"/>
              </a:rPr>
              <a:t>Valor agregado: Ciudad Alerta no solo informa lo que ocurrió; también ayuda a anticipar cómo una incidencia puede afectar el entorno.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2375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8184650" y="6556475"/>
            <a:ext cx="400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074" y="-210528"/>
            <a:ext cx="3816427" cy="122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678" y="431967"/>
            <a:ext cx="11217611" cy="85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0" title="duocuc_logo_transparent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276" y="-221100"/>
            <a:ext cx="3812724" cy="12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0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10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436" y="70367"/>
            <a:ext cx="21145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400" y="1443978"/>
            <a:ext cx="11887201" cy="3877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 txBox="1"/>
          <p:nvPr/>
        </p:nvSpPr>
        <p:spPr>
          <a:xfrm>
            <a:off x="4356691" y="1180222"/>
            <a:ext cx="60977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- Sprint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573" y="-187329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1"/>
          <p:cNvSpPr txBox="1"/>
          <p:nvPr/>
        </p:nvSpPr>
        <p:spPr>
          <a:xfrm>
            <a:off x="0" y="6537960"/>
            <a:ext cx="12192000" cy="348615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11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94" y="34847"/>
            <a:ext cx="21145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917397"/>
            <a:ext cx="11887202" cy="26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3f9b249a4b6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573" y="-187329"/>
            <a:ext cx="3816428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f9b249a4b6_2_6"/>
          <p:cNvSpPr txBox="1"/>
          <p:nvPr/>
        </p:nvSpPr>
        <p:spPr>
          <a:xfrm>
            <a:off x="0" y="6537960"/>
            <a:ext cx="12192000" cy="348600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g3f9b249a4b6_2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94" y="34847"/>
            <a:ext cx="21145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f9b249a4b6_2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50" y="1038036"/>
            <a:ext cx="3714750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f9b249a4b6_2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82963" y="1244100"/>
            <a:ext cx="3807825" cy="355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f9b249a4b6_2_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31775" y="1190473"/>
            <a:ext cx="3807825" cy="340153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f9b249a4b6_2_6"/>
          <p:cNvSpPr/>
          <p:nvPr/>
        </p:nvSpPr>
        <p:spPr>
          <a:xfrm>
            <a:off x="3733102" y="1038075"/>
            <a:ext cx="63000" cy="460050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9b249a4b6_2_6"/>
          <p:cNvSpPr/>
          <p:nvPr/>
        </p:nvSpPr>
        <p:spPr>
          <a:xfrm>
            <a:off x="7977652" y="1038050"/>
            <a:ext cx="63000" cy="460050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"/>
          <p:cNvSpPr txBox="1"/>
          <p:nvPr/>
        </p:nvSpPr>
        <p:spPr>
          <a:xfrm>
            <a:off x="548640" y="320040"/>
            <a:ext cx="415633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4. Objetivo general y 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566928" y="914400"/>
            <a:ext cx="41545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Qué hace el sistema y qué queda fuera del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843915" y="1443306"/>
            <a:ext cx="10744200" cy="11430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 txBox="1"/>
          <p:nvPr/>
        </p:nvSpPr>
        <p:spPr>
          <a:xfrm>
            <a:off x="960120" y="1463040"/>
            <a:ext cx="102412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Desarrollar un prototipo web y móvil que permita registrar, geolocalizar, verificar, clasificar, derivar y hacer seguimiento de incidencias urbanas de forma simple, segura, accesible y trazable.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822960" y="2697480"/>
            <a:ext cx="4937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6400800" y="2697480"/>
            <a:ext cx="47548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B44141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868680" y="3063240"/>
            <a:ext cx="507492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Registro, autenticación y roles.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Reporte con foto, ubicación y categoría.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Mapa de incidencias.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Detección de posibles duplicados.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Confirmación y contador comunitario.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Seguimiento y cambio de estado.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Reconocimiento básico e historial de participación.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6446520" y="3063240"/>
            <a:ext cx="4572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Integración productiva con organismos externos.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Cobertura nacional.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Reputación avanzada y detección compleja de fraude.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Analítica predictiva avanzada.</a:t>
            </a:r>
            <a:b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Operación productiva 24/7 y SLA institucional.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843915" y="6528435"/>
            <a:ext cx="11348085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8529" y="-259030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0682" y="735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"/>
          <p:cNvSpPr txBox="1"/>
          <p:nvPr/>
        </p:nvSpPr>
        <p:spPr>
          <a:xfrm>
            <a:off x="548640" y="320040"/>
            <a:ext cx="454842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5. Limitaciones y alcance futuro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566924" y="914400"/>
            <a:ext cx="357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Factores reales del proyecto y su evolución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822960" y="1280160"/>
            <a:ext cx="493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B4414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6400800" y="128016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ALCANCE FUTURO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731520" y="1737360"/>
            <a:ext cx="512064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640080" y="1739900"/>
            <a:ext cx="91440" cy="4297680"/>
          </a:xfrm>
          <a:prstGeom prst="rect">
            <a:avLst/>
          </a:prstGeom>
          <a:solidFill>
            <a:srgbClr val="B4414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 txBox="1"/>
          <p:nvPr/>
        </p:nvSpPr>
        <p:spPr>
          <a:xfrm>
            <a:off x="2125980" y="2197735"/>
            <a:ext cx="211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Limitaciones del MVP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1225550" y="2896235"/>
            <a:ext cx="4224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Dependencia de conectividad y GPS.</a:t>
            </a:r>
            <a:b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Calidad variable de fotografías.</a:t>
            </a:r>
            <a:b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Alcance territorial controlado del piloto.</a:t>
            </a:r>
            <a:b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Enrutamiento institucional inicialmente simulado.</a:t>
            </a:r>
            <a:b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• Tiempo académico limitado para integrar servicios externos.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6355080" y="1737360"/>
            <a:ext cx="507492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263640" y="1737360"/>
            <a:ext cx="91440" cy="429768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8061948" y="2196475"/>
            <a:ext cx="223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7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Evolución propuesta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 txBox="1"/>
          <p:nvPr/>
        </p:nvSpPr>
        <p:spPr>
          <a:xfrm>
            <a:off x="6671945" y="2896235"/>
            <a:ext cx="42132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Integración con municipios y empresas de servicios.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Alertas tempranas desde fuentes externas autorizadas.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Reputación avanzada y mecanismos antifraude.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Analítica e indicadores territoriales.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• IA para apoyar clasificación y priorización.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822960" y="6529070"/>
            <a:ext cx="11302365" cy="328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1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5871" y="-235062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7466" y="81280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 txBox="1"/>
          <p:nvPr/>
        </p:nvSpPr>
        <p:spPr>
          <a:xfrm>
            <a:off x="548640" y="320040"/>
            <a:ext cx="575452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6. Requerimientos e historias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566925" y="914400"/>
            <a:ext cx="514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voz del usuario se transforma en funcionalidades priorizadas para el MVP.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731520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1594485" y="1390015"/>
            <a:ext cx="49657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868680" y="1920240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3520439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4173855" y="1398270"/>
            <a:ext cx="88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600" u="none" cap="none" strike="noStrike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3657599" y="1887855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Requerimientos 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6309359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7145020" y="1408430"/>
            <a:ext cx="62420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6446520" y="1887855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Historias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9098280" y="132588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9970770" y="1407795"/>
            <a:ext cx="5868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7993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9235440" y="1887855"/>
            <a:ext cx="2057400" cy="464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Historias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priorizadas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822960" y="2788920"/>
            <a:ext cx="356616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822960" y="2788920"/>
            <a:ext cx="91440" cy="2926080"/>
          </a:xfrm>
          <a:prstGeom prst="rect">
            <a:avLst/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1594485" y="3316318"/>
            <a:ext cx="2258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HU-20 · Detección de coincidencias</a:t>
            </a:r>
            <a:endParaRPr b="1" i="0" sz="1600" u="none" cap="none" strike="noStrike">
              <a:solidFill>
                <a:srgbClr val="1030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1046162" y="4018915"/>
            <a:ext cx="31197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Como ciudadano, quiero visualizar incidencias  similares cercanas antes de crear un reporte, para evitar  duplicar información.</a:t>
            </a:r>
            <a:endParaRPr b="0" i="0" sz="1200" u="none" cap="none" strike="noStrike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343400" y="2788920"/>
            <a:ext cx="356616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4343400" y="2788920"/>
            <a:ext cx="91440" cy="292608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 txBox="1"/>
          <p:nvPr/>
        </p:nvSpPr>
        <p:spPr>
          <a:xfrm>
            <a:off x="5136994" y="3235325"/>
            <a:ext cx="2589685" cy="263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HU-21/22 · Validación comunitaria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7863840" y="2788920"/>
            <a:ext cx="3566160" cy="2926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7863840" y="2788920"/>
            <a:ext cx="91440" cy="292608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8551545" y="3136900"/>
            <a:ext cx="27870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HU-23/24 · Participación y prevención</a:t>
            </a:r>
            <a:endParaRPr b="1" i="0" sz="1600" u="none" cap="none" strike="noStrike">
              <a:solidFill>
                <a:srgbClr val="10305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 txBox="1"/>
          <p:nvPr/>
        </p:nvSpPr>
        <p:spPr>
          <a:xfrm>
            <a:off x="4526915" y="3792855"/>
            <a:ext cx="3061970" cy="918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Como ciudadano autenticado, quiero confirmar una incidencia existente y visualizar su número de confirmaciones para fortalecer la información comunitaria.</a:t>
            </a:r>
            <a:endParaRPr b="0" i="0" sz="1200" u="none" cap="none" strike="noStrike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0" y="6583045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868680" y="6535420"/>
            <a:ext cx="11247120" cy="347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8092440" y="3792855"/>
            <a:ext cx="3246120" cy="87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Como ciudadano, quiero recibir reconocimiento por mis aportes validados y seleccionar alertas preventivas por categorías, para participar y anticiparse a situaciones urbanas.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6073" y="-231235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7554" y="4710067"/>
            <a:ext cx="2238375" cy="100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088" y="3246180"/>
            <a:ext cx="640398" cy="598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49190" y="4712970"/>
            <a:ext cx="240030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6281" y="3030855"/>
            <a:ext cx="597689" cy="61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39137" y="4798695"/>
            <a:ext cx="2752725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3058" y="3020567"/>
            <a:ext cx="581345" cy="61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1485" y="5965126"/>
            <a:ext cx="3085194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24587" y="3848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 txBox="1"/>
          <p:nvPr/>
        </p:nvSpPr>
        <p:spPr>
          <a:xfrm>
            <a:off x="548640" y="320040"/>
            <a:ext cx="390613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7. Arquitectura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566928" y="914400"/>
            <a:ext cx="178446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Arquitectura lógica del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097280" y="1325880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1234440" y="1490472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1325880" y="1645919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3337560" y="1453895"/>
            <a:ext cx="6035040" cy="55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App móvil Flutter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Portal Web React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9738360" y="1645919"/>
            <a:ext cx="10058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5"/>
          <p:cNvCxnSpPr/>
          <p:nvPr/>
        </p:nvCxnSpPr>
        <p:spPr>
          <a:xfrm>
            <a:off x="6080760" y="224028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2" name="Google Shape;382;p15"/>
          <p:cNvSpPr/>
          <p:nvPr/>
        </p:nvSpPr>
        <p:spPr>
          <a:xfrm>
            <a:off x="1097280" y="2587752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234440" y="2752344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 txBox="1"/>
          <p:nvPr/>
        </p:nvSpPr>
        <p:spPr>
          <a:xfrm>
            <a:off x="1325880" y="290779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 txBox="1"/>
          <p:nvPr/>
        </p:nvSpPr>
        <p:spPr>
          <a:xfrm>
            <a:off x="3337560" y="2715768"/>
            <a:ext cx="3786254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Firebase / lógica de negocio</a:t>
            </a:r>
            <a:b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Autenticación · clasificación · enrutamiento · alertas ·</a:t>
            </a:r>
            <a:endParaRPr b="0" i="0" sz="1300" u="none" cap="none" strike="noStrike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 validación · reconocimientos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 txBox="1"/>
          <p:nvPr/>
        </p:nvSpPr>
        <p:spPr>
          <a:xfrm>
            <a:off x="9738360" y="290779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5"/>
          <p:cNvCxnSpPr/>
          <p:nvPr/>
        </p:nvCxnSpPr>
        <p:spPr>
          <a:xfrm>
            <a:off x="6080760" y="3502152"/>
            <a:ext cx="0" cy="320039"/>
          </a:xfrm>
          <a:prstGeom prst="straightConnector1">
            <a:avLst/>
          </a:prstGeom>
          <a:noFill/>
          <a:ln cap="flat" cmpd="sng" w="19050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8" name="Google Shape;388;p15"/>
          <p:cNvSpPr/>
          <p:nvPr/>
        </p:nvSpPr>
        <p:spPr>
          <a:xfrm>
            <a:off x="1097280" y="3849624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234440" y="4014215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 txBox="1"/>
          <p:nvPr/>
        </p:nvSpPr>
        <p:spPr>
          <a:xfrm>
            <a:off x="1325880" y="4169663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 txBox="1"/>
          <p:nvPr/>
        </p:nvSpPr>
        <p:spPr>
          <a:xfrm>
            <a:off x="3337560" y="3977639"/>
            <a:ext cx="3786254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Cloud Firestore / Storage</a:t>
            </a:r>
            <a:b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Usuarios · Reportes · Alertas · Estados · Evidencias</a:t>
            </a:r>
            <a:endParaRPr b="0" i="0" sz="1300" u="none" cap="none" strike="noStrike">
              <a:solidFill>
                <a:srgbClr val="1E26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 · Confirmaciones · Participación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 txBox="1"/>
          <p:nvPr/>
        </p:nvSpPr>
        <p:spPr>
          <a:xfrm>
            <a:off x="9738360" y="4169663"/>
            <a:ext cx="10058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Persistencia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15"/>
          <p:cNvCxnSpPr/>
          <p:nvPr/>
        </p:nvCxnSpPr>
        <p:spPr>
          <a:xfrm>
            <a:off x="6080760" y="4764024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4" name="Google Shape;394;p15"/>
          <p:cNvSpPr/>
          <p:nvPr/>
        </p:nvSpPr>
        <p:spPr>
          <a:xfrm>
            <a:off x="1097280" y="5111496"/>
            <a:ext cx="9966960" cy="914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234440" y="5276088"/>
            <a:ext cx="1828800" cy="585216"/>
          </a:xfrm>
          <a:prstGeom prst="roundRect">
            <a:avLst>
              <a:gd fmla="val 16667" name="adj"/>
            </a:avLst>
          </a:prstGeom>
          <a:solidFill>
            <a:srgbClr val="23569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 txBox="1"/>
          <p:nvPr/>
        </p:nvSpPr>
        <p:spPr>
          <a:xfrm>
            <a:off x="1325880" y="5431536"/>
            <a:ext cx="16459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urbanos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 txBox="1"/>
          <p:nvPr/>
        </p:nvSpPr>
        <p:spPr>
          <a:xfrm>
            <a:off x="3337560" y="5151120"/>
            <a:ext cx="3924477" cy="749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Geolocalización y mapas</a:t>
            </a:r>
            <a:b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Verificación comunitaria · Alertas tempranas inclusivas</a:t>
            </a:r>
            <a:b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Seguimiento · reconocimientos · trazabilidad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 txBox="1"/>
          <p:nvPr/>
        </p:nvSpPr>
        <p:spPr>
          <a:xfrm>
            <a:off x="9738360" y="543153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Servicios / lógica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1173480" y="6538595"/>
            <a:ext cx="1088961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0784" y="1344480"/>
            <a:ext cx="1093514" cy="783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9078" y="1362562"/>
            <a:ext cx="1093514" cy="811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2235" y="2598644"/>
            <a:ext cx="1477704" cy="85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8834" y="3876695"/>
            <a:ext cx="2925017" cy="832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2037" y="5159396"/>
            <a:ext cx="1005841" cy="852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2480" y="5151121"/>
            <a:ext cx="967464" cy="852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2807" y="-311002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230687" y="-12023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g3f9b249a4b6_2_20" title="ChatGPT Image Aug 31, 2026, 11_32_5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7675" y="0"/>
            <a:ext cx="10286976" cy="650725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f9b249a4b6_2_20"/>
          <p:cNvSpPr/>
          <p:nvPr/>
        </p:nvSpPr>
        <p:spPr>
          <a:xfrm>
            <a:off x="0" y="6583680"/>
            <a:ext cx="12191700" cy="27420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9b249a4b6_2_20"/>
          <p:cNvSpPr txBox="1"/>
          <p:nvPr/>
        </p:nvSpPr>
        <p:spPr>
          <a:xfrm>
            <a:off x="1173480" y="6538595"/>
            <a:ext cx="10889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"/>
          <p:cNvSpPr txBox="1"/>
          <p:nvPr/>
        </p:nvSpPr>
        <p:spPr>
          <a:xfrm>
            <a:off x="548640" y="320040"/>
            <a:ext cx="503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9. Metodología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566928" y="914400"/>
            <a:ext cx="322235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SCRUM como estrategia de construcción incremental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5734397" y="1727797"/>
            <a:ext cx="1255500" cy="68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 txBox="1"/>
          <p:nvPr/>
        </p:nvSpPr>
        <p:spPr>
          <a:xfrm>
            <a:off x="5800438" y="1798283"/>
            <a:ext cx="11226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8115648" y="3169882"/>
            <a:ext cx="1307400" cy="7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 txBox="1"/>
          <p:nvPr/>
        </p:nvSpPr>
        <p:spPr>
          <a:xfrm>
            <a:off x="8304243" y="3286088"/>
            <a:ext cx="930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5877272" y="4888828"/>
            <a:ext cx="1221600" cy="796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 txBox="1"/>
          <p:nvPr/>
        </p:nvSpPr>
        <p:spPr>
          <a:xfrm>
            <a:off x="5927438" y="5083138"/>
            <a:ext cx="1062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3632548" y="3242907"/>
            <a:ext cx="996900" cy="82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3569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3469988" y="3519132"/>
            <a:ext cx="13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10689675" y="1447705"/>
            <a:ext cx="91500" cy="4480500"/>
          </a:xfrm>
          <a:prstGeom prst="rect">
            <a:avLst/>
          </a:prstGeom>
          <a:solidFill>
            <a:srgbClr val="40963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 txBox="1"/>
          <p:nvPr/>
        </p:nvSpPr>
        <p:spPr>
          <a:xfrm>
            <a:off x="868680" y="6093588"/>
            <a:ext cx="105156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SCRUM permite entregar valor de forma incremental y adaptar el desarrollo según la retroalimentación obtenida.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786130" y="6551295"/>
            <a:ext cx="11320780" cy="31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4" name="Google Shape;4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4398" y="3232748"/>
            <a:ext cx="1399540" cy="1071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16"/>
          <p:cNvCxnSpPr>
            <a:stCxn id="422" idx="3"/>
          </p:cNvCxnSpPr>
          <p:nvPr/>
        </p:nvCxnSpPr>
        <p:spPr>
          <a:xfrm>
            <a:off x="6989897" y="2071297"/>
            <a:ext cx="1438200" cy="1098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36" name="Google Shape;436;p16"/>
          <p:cNvCxnSpPr/>
          <p:nvPr/>
        </p:nvCxnSpPr>
        <p:spPr>
          <a:xfrm flipH="1">
            <a:off x="7133848" y="3977603"/>
            <a:ext cx="1185000" cy="1310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37" name="Google Shape;437;p16"/>
          <p:cNvCxnSpPr>
            <a:stCxn id="426" idx="1"/>
          </p:cNvCxnSpPr>
          <p:nvPr/>
        </p:nvCxnSpPr>
        <p:spPr>
          <a:xfrm rot="10800000">
            <a:off x="4373072" y="4078228"/>
            <a:ext cx="1504200" cy="1209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38" name="Google Shape;438;p16"/>
          <p:cNvCxnSpPr>
            <a:endCxn id="422" idx="1"/>
          </p:cNvCxnSpPr>
          <p:nvPr/>
        </p:nvCxnSpPr>
        <p:spPr>
          <a:xfrm flipH="1" rot="10800000">
            <a:off x="4372997" y="2071297"/>
            <a:ext cx="1361400" cy="117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439" name="Google Shape;4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8529" y="-189445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1225" y="48689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7"/>
          <p:cNvSpPr txBox="1"/>
          <p:nvPr/>
        </p:nvSpPr>
        <p:spPr>
          <a:xfrm>
            <a:off x="548654" y="320050"/>
            <a:ext cx="465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10. Riesgos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566928" y="914400"/>
            <a:ext cx="44225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9707A"/>
                </a:solidFill>
                <a:latin typeface="Calibri"/>
                <a:ea typeface="Calibri"/>
                <a:cs typeface="Calibri"/>
                <a:sym typeface="Calibri"/>
              </a:rPr>
              <a:t>Identificación temprana y estrategias de mitigación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731520" y="1325880"/>
            <a:ext cx="3657600" cy="502920"/>
          </a:xfrm>
          <a:prstGeom prst="rect">
            <a:avLst/>
          </a:prstGeom>
          <a:solidFill>
            <a:srgbClr val="0F2B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731520" y="1444752"/>
            <a:ext cx="3657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4572000" y="1325880"/>
            <a:ext cx="1645920" cy="502920"/>
          </a:xfrm>
          <a:prstGeom prst="rect">
            <a:avLst/>
          </a:prstGeom>
          <a:solidFill>
            <a:srgbClr val="0F2B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 txBox="1"/>
          <p:nvPr/>
        </p:nvSpPr>
        <p:spPr>
          <a:xfrm>
            <a:off x="4572000" y="1444752"/>
            <a:ext cx="16459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6217920" y="1325880"/>
            <a:ext cx="5212080" cy="502920"/>
          </a:xfrm>
          <a:prstGeom prst="rect">
            <a:avLst/>
          </a:prstGeom>
          <a:solidFill>
            <a:srgbClr val="0F2B4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 txBox="1"/>
          <p:nvPr/>
        </p:nvSpPr>
        <p:spPr>
          <a:xfrm>
            <a:off x="6217920" y="1444752"/>
            <a:ext cx="52120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731520" y="1828800"/>
            <a:ext cx="36576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 txBox="1"/>
          <p:nvPr/>
        </p:nvSpPr>
        <p:spPr>
          <a:xfrm>
            <a:off x="804672" y="1901952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Retraso en integración Web/Móvil/Firebase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4572000" y="1828800"/>
            <a:ext cx="16459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 txBox="1"/>
          <p:nvPr/>
        </p:nvSpPr>
        <p:spPr>
          <a:xfrm>
            <a:off x="4645152" y="1901952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6217920" y="1828800"/>
            <a:ext cx="5212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6291072" y="1901952"/>
            <a:ext cx="50657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Desarrollo incremental por sprints y pruebas de integración tempranas.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731520" y="2542032"/>
            <a:ext cx="365760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804672" y="2615184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Errores de geolocalización o mapas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4572000" y="2542032"/>
            <a:ext cx="164592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7"/>
          <p:cNvSpPr txBox="1"/>
          <p:nvPr/>
        </p:nvSpPr>
        <p:spPr>
          <a:xfrm>
            <a:off x="4645152" y="2615184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7"/>
          <p:cNvSpPr/>
          <p:nvPr/>
        </p:nvSpPr>
        <p:spPr>
          <a:xfrm>
            <a:off x="6217920" y="2542032"/>
            <a:ext cx="521208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7"/>
          <p:cNvSpPr txBox="1"/>
          <p:nvPr/>
        </p:nvSpPr>
        <p:spPr>
          <a:xfrm>
            <a:off x="6291072" y="2615184"/>
            <a:ext cx="5065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Validar permisos, coordenadas y escenarios con GPS no disponible.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7"/>
          <p:cNvSpPr/>
          <p:nvPr/>
        </p:nvSpPr>
        <p:spPr>
          <a:xfrm>
            <a:off x="731520" y="3255264"/>
            <a:ext cx="365760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7"/>
          <p:cNvSpPr txBox="1"/>
          <p:nvPr/>
        </p:nvSpPr>
        <p:spPr>
          <a:xfrm>
            <a:off x="804672" y="3328416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Cambios en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4572000" y="3255264"/>
            <a:ext cx="16459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 txBox="1"/>
          <p:nvPr/>
        </p:nvSpPr>
        <p:spPr>
          <a:xfrm>
            <a:off x="4645152" y="3328416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6217920" y="3255264"/>
            <a:ext cx="5212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6291072" y="3328416"/>
            <a:ext cx="5065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Priorización del Product Backlog y control de alcance.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731520" y="3968496"/>
            <a:ext cx="365760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 txBox="1"/>
          <p:nvPr/>
        </p:nvSpPr>
        <p:spPr>
          <a:xfrm>
            <a:off x="804672" y="4041648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Baja adopción o dificultad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4572000" y="3968496"/>
            <a:ext cx="164592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 txBox="1"/>
          <p:nvPr/>
        </p:nvSpPr>
        <p:spPr>
          <a:xfrm>
            <a:off x="4645152" y="4041648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6217920" y="3968496"/>
            <a:ext cx="521208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 txBox="1"/>
          <p:nvPr/>
        </p:nvSpPr>
        <p:spPr>
          <a:xfrm>
            <a:off x="6291072" y="4041648"/>
            <a:ext cx="50657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Diseño accessible, navegación simple y pruebas de usabilidad.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731520" y="4681855"/>
            <a:ext cx="3657600" cy="67183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 txBox="1"/>
          <p:nvPr/>
        </p:nvSpPr>
        <p:spPr>
          <a:xfrm>
            <a:off x="804672" y="4754880"/>
            <a:ext cx="35112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Problemas de conectividad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4572000" y="4681728"/>
            <a:ext cx="164592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 txBox="1"/>
          <p:nvPr/>
        </p:nvSpPr>
        <p:spPr>
          <a:xfrm>
            <a:off x="4645152" y="4754880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6217920" y="4681728"/>
            <a:ext cx="521208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7"/>
          <p:cNvSpPr txBox="1"/>
          <p:nvPr/>
        </p:nvSpPr>
        <p:spPr>
          <a:xfrm>
            <a:off x="6291072" y="4754880"/>
            <a:ext cx="50657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Manejo de errores, mensajes claros y pruebas con conectividad limitada.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 txBox="1"/>
          <p:nvPr/>
        </p:nvSpPr>
        <p:spPr>
          <a:xfrm>
            <a:off x="862330" y="6545580"/>
            <a:ext cx="11329670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1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731520" y="5353431"/>
            <a:ext cx="365760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4572000" y="5394706"/>
            <a:ext cx="164592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6217920" y="5394706"/>
            <a:ext cx="5212080" cy="713232"/>
          </a:xfrm>
          <a:prstGeom prst="rect">
            <a:avLst/>
          </a:prstGeom>
          <a:solidFill>
            <a:srgbClr val="F4F7FA"/>
          </a:solidFill>
          <a:ln cap="flat" cmpd="sng" w="9525">
            <a:solidFill>
              <a:srgbClr val="DCE4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804545" y="5430520"/>
            <a:ext cx="351155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Información preventiva incorrecta o desactualizada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 txBox="1"/>
          <p:nvPr/>
        </p:nvSpPr>
        <p:spPr>
          <a:xfrm>
            <a:off x="4645152" y="5430774"/>
            <a:ext cx="14996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"/>
          <p:cNvSpPr txBox="1"/>
          <p:nvPr/>
        </p:nvSpPr>
        <p:spPr>
          <a:xfrm>
            <a:off x="6291072" y="5450713"/>
            <a:ext cx="5066030" cy="461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303A"/>
                </a:solidFill>
                <a:latin typeface="Calibri"/>
                <a:ea typeface="Calibri"/>
                <a:cs typeface="Calibri"/>
                <a:sym typeface="Calibri"/>
              </a:rPr>
              <a:t>Validar la fuente, vigencia y estado de las alertas antes de su publicación; en el MVP utilizar datos programados o simulados claramente identificados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758" y="-216585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39002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"/>
          <p:cNvSpPr txBox="1"/>
          <p:nvPr/>
        </p:nvSpPr>
        <p:spPr>
          <a:xfrm>
            <a:off x="548640" y="320040"/>
            <a:ext cx="460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11. Prototipo funcional (UX/UI)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8"/>
          <p:cNvSpPr txBox="1"/>
          <p:nvPr/>
        </p:nvSpPr>
        <p:spPr>
          <a:xfrm>
            <a:off x="566928" y="914400"/>
            <a:ext cx="389882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A6470"/>
                </a:solidFill>
                <a:latin typeface="Calibri"/>
                <a:ea typeface="Calibri"/>
                <a:cs typeface="Calibri"/>
                <a:sym typeface="Calibri"/>
              </a:rPr>
              <a:t>Demostración de los flujos reactivo, colaborativo y preventivo/inclusivo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4262120" y="1417320"/>
            <a:ext cx="289359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1. Reportar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Foto + ubicación + categoría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4251960" y="2651760"/>
            <a:ext cx="290375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2. Validar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Coincidencias + confirmación comunitaria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4251960" y="3886200"/>
            <a:ext cx="290375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3. Anticipar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Alertas inclusivas + recomendación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4251960" y="5120640"/>
            <a:ext cx="2903752" cy="9601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12375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4. Participar y seguir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3053"/>
                </a:solidFill>
                <a:latin typeface="Calibri"/>
                <a:ea typeface="Calibri"/>
                <a:cs typeface="Calibri"/>
                <a:sym typeface="Calibri"/>
              </a:rPr>
              <a:t>Estado + historial + reconocimiento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8"/>
          <p:cNvSpPr txBox="1"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0721" y="1445123"/>
            <a:ext cx="2270140" cy="4460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1370" y="1460951"/>
            <a:ext cx="2450804" cy="4444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5872" y="-272722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1092" y="31433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9"/>
          <p:cNvSpPr txBox="1"/>
          <p:nvPr/>
        </p:nvSpPr>
        <p:spPr>
          <a:xfrm>
            <a:off x="4914431" y="468477"/>
            <a:ext cx="227014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127" y="1544934"/>
            <a:ext cx="2270140" cy="4460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0559" y="1544934"/>
            <a:ext cx="2307740" cy="444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1591" y="1609045"/>
            <a:ext cx="2155371" cy="444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00254" y="1624509"/>
            <a:ext cx="2155371" cy="4454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18917" y="1624510"/>
            <a:ext cx="2155371" cy="4454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6455" y="-274234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9"/>
          <p:cNvSpPr txBox="1"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0" name="Google Shape;52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4922" y="0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6" name="Google Shape;526;p20"/>
          <p:cNvGraphicFramePr/>
          <p:nvPr/>
        </p:nvGraphicFramePr>
        <p:xfrm>
          <a:off x="1721530" y="2074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{D427F3EC-7750-459F-9BF6-E1226F07ACBF}</a:tableStyleId>
              </a:tblPr>
              <a:tblGrid>
                <a:gridCol w="417600"/>
                <a:gridCol w="5909200"/>
                <a:gridCol w="2422150"/>
              </a:tblGrid>
              <a:tr h="3685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N.º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MÓDULOS Y ARTEFACTOS DEL SISTEMA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7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Registro, inicio de sesión y autenticación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5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 y gestión de usuario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de incidencias urbanas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8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Fotografía, GPS y categorización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incidencias similares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8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y confirmación comunitaria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Mapa y geolocalización de incidencias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30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Seguimiento, estados y enrutamiento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Alertas tempranas inclusivas y notificaciones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4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Participación y reconocimiento ciudadano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8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Panel web de administración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24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/ Demo interactiva Ciudad Alerta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desarrollo</a:t>
                      </a:r>
                      <a:endParaRPr sz="1400" u="none" cap="none" strike="noStrike"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7" name="Google Shape;527;p20"/>
          <p:cNvSpPr txBox="1"/>
          <p:nvPr/>
        </p:nvSpPr>
        <p:spPr>
          <a:xfrm>
            <a:off x="3788229" y="634426"/>
            <a:ext cx="6096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Gestión del desarrollo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 txBox="1"/>
          <p:nvPr/>
        </p:nvSpPr>
        <p:spPr>
          <a:xfrm>
            <a:off x="2252180" y="1716352"/>
            <a:ext cx="7837537" cy="555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construcción funcional de estos módulos se desarrollará en las siguientes fases y Sprints del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5573" y="-68523"/>
            <a:ext cx="3816427" cy="122540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0"/>
          <p:cNvSpPr txBox="1"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0F2B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2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0"/>
          <p:cNvSpPr txBox="1"/>
          <p:nvPr/>
        </p:nvSpPr>
        <p:spPr>
          <a:xfrm>
            <a:off x="2616318" y="1314735"/>
            <a:ext cx="6328881" cy="555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de implementación de los módulos definidos para el MVP  de Ciudad Alerta.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591" y="5930959"/>
            <a:ext cx="25336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4161" y="343969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1"/>
          <p:cNvSpPr txBox="1"/>
          <p:nvPr/>
        </p:nvSpPr>
        <p:spPr>
          <a:xfrm>
            <a:off x="1097280" y="2651760"/>
            <a:ext cx="99669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2B4D"/>
                </a:solidFill>
                <a:latin typeface="Calibri"/>
                <a:ea typeface="Calibri"/>
                <a:cs typeface="Calibri"/>
                <a:sym typeface="Calibri"/>
              </a:rPr>
              <a:t>Próxima etapa: Construcción del MVP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1"/>
          <p:cNvSpPr txBox="1"/>
          <p:nvPr/>
        </p:nvSpPr>
        <p:spPr>
          <a:xfrm>
            <a:off x="1920240" y="3657600"/>
            <a:ext cx="83210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Implementación de autenticación y roles.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Registro de incidencias con foto y geolocalización.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Detección de duplicados y confirmación comunitaria.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Alertas Tempranas Inclusivas.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Reconocimiento e historial de participación.</a:t>
            </a:r>
            <a:b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1E2630"/>
                </a:solidFill>
                <a:latin typeface="Calibri"/>
                <a:ea typeface="Calibri"/>
                <a:cs typeface="Calibri"/>
                <a:sym typeface="Calibri"/>
              </a:rPr>
              <a:t>✓  Seguimiento, pruebas de usabilidad y validación.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1828800" y="5440680"/>
            <a:ext cx="85039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096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 txBox="1"/>
          <p:nvPr/>
        </p:nvSpPr>
        <p:spPr>
          <a:xfrm>
            <a:off x="2011680" y="5596128"/>
            <a:ext cx="81381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0963E"/>
                </a:solidFill>
                <a:latin typeface="Calibri"/>
                <a:ea typeface="Calibri"/>
                <a:cs typeface="Calibri"/>
                <a:sym typeface="Calibri"/>
              </a:rPr>
              <a:t>Ciudad Alerta · Reporta · Verifica · Conecta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1"/>
          <p:cNvSpPr txBox="1"/>
          <p:nvPr/>
        </p:nvSpPr>
        <p:spPr>
          <a:xfrm>
            <a:off x="880745" y="6556375"/>
            <a:ext cx="1131125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2026  |  Ciudad Alerta  |  2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_clean_vector_style_monochrome_black_and_white_g.png" id="544" name="Google Shape;5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594360"/>
            <a:ext cx="244169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4506" y="-264339"/>
            <a:ext cx="3816427" cy="122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030" y="297836"/>
            <a:ext cx="2114550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  <dc:creator>Lenovo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2058-12.1.0.28032</vt:lpwstr>
  </property>
  <property fmtid="{D5CDD505-2E9C-101B-9397-08002B2CF9AE}" pid="3" name="ICV">
    <vt:lpwstr>812A30C11C5C410F9C1D153319184E4A_13</vt:lpwstr>
  </property>
</Properties>
</file>
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iPeuKidoxFRffcWc/vsGjJ1iww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CIUDAD ALERTA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910693" y="519645"/>
            <a:ext cx="2340128" cy="323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Diagrama de Arquitectura 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320040" y="1051560"/>
            <a:ext cx="1965960" cy="4434840"/>
          </a:xfrm>
          <a:prstGeom prst="roundRect">
            <a:avLst>
              <a:gd fmla="val 16667" name="adj"/>
            </a:avLst>
          </a:prstGeom>
          <a:solidFill>
            <a:srgbClr val="E6F4FF"/>
          </a:solidFill>
          <a:ln cap="flat" cmpd="sng" w="15225">
            <a:solidFill>
              <a:srgbClr val="278B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20040" y="1051560"/>
            <a:ext cx="1965960" cy="530352"/>
          </a:xfrm>
          <a:prstGeom prst="roundRect">
            <a:avLst>
              <a:gd fmla="val 16667" name="adj"/>
            </a:avLst>
          </a:prstGeom>
          <a:solidFill>
            <a:srgbClr val="278BE6"/>
          </a:solidFill>
          <a:ln cap="flat" cmpd="sng" w="9525">
            <a:solidFill>
              <a:srgbClr val="278B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65759" y="1097280"/>
            <a:ext cx="187451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Usuarios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2487168" y="1051560"/>
            <a:ext cx="2148840" cy="4434840"/>
          </a:xfrm>
          <a:prstGeom prst="roundRect">
            <a:avLst>
              <a:gd fmla="val 16667" name="adj"/>
            </a:avLst>
          </a:prstGeom>
          <a:solidFill>
            <a:srgbClr val="EBFAEC"/>
          </a:solidFill>
          <a:ln cap="flat" cmpd="sng" w="15225">
            <a:solidFill>
              <a:srgbClr val="55BE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487168" y="1051560"/>
            <a:ext cx="2148840" cy="530352"/>
          </a:xfrm>
          <a:prstGeom prst="roundRect">
            <a:avLst>
              <a:gd fmla="val 16667" name="adj"/>
            </a:avLst>
          </a:prstGeom>
          <a:solidFill>
            <a:srgbClr val="55BE6E"/>
          </a:solidFill>
          <a:ln cap="flat" cmpd="sng" w="9525">
            <a:solidFill>
              <a:srgbClr val="55BE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532888" y="109728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Aplicación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4837176" y="1051560"/>
            <a:ext cx="2331720" cy="44348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15225">
            <a:solidFill>
              <a:srgbClr val="F6B04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837176" y="1051560"/>
            <a:ext cx="2331720" cy="530352"/>
          </a:xfrm>
          <a:prstGeom prst="roundRect">
            <a:avLst>
              <a:gd fmla="val 16667" name="adj"/>
            </a:avLst>
          </a:prstGeom>
          <a:solidFill>
            <a:srgbClr val="F6B041"/>
          </a:solidFill>
          <a:ln cap="flat" cmpd="sng" w="9525">
            <a:solidFill>
              <a:srgbClr val="F6B04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882896" y="10972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Firebase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7370064" y="1051560"/>
            <a:ext cx="2057400" cy="4434840"/>
          </a:xfrm>
          <a:prstGeom prst="roundRect">
            <a:avLst>
              <a:gd fmla="val 16667" name="adj"/>
            </a:avLst>
          </a:prstGeom>
          <a:solidFill>
            <a:srgbClr val="F6EFFF"/>
          </a:solidFill>
          <a:ln cap="flat" cmpd="sng" w="15225">
            <a:solidFill>
              <a:srgbClr val="9969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7370064" y="1051560"/>
            <a:ext cx="2057400" cy="530352"/>
          </a:xfrm>
          <a:prstGeom prst="roundRect">
            <a:avLst>
              <a:gd fmla="val 16667" name="adj"/>
            </a:avLst>
          </a:prstGeom>
          <a:solidFill>
            <a:srgbClr val="9969E6"/>
          </a:solidFill>
          <a:ln cap="flat" cmpd="sng" w="9525">
            <a:solidFill>
              <a:srgbClr val="9969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7415784" y="10972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Servicios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9628632" y="1051560"/>
            <a:ext cx="2240280" cy="4434840"/>
          </a:xfrm>
          <a:prstGeom prst="roundRect">
            <a:avLst>
              <a:gd fmla="val 16667" name="adj"/>
            </a:avLst>
          </a:prstGeom>
          <a:solidFill>
            <a:srgbClr val="E8F9FA"/>
          </a:solidFill>
          <a:ln cap="flat" cmpd="sng" w="15225">
            <a:solidFill>
              <a:srgbClr val="35A9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9628632" y="1051560"/>
            <a:ext cx="2240280" cy="530352"/>
          </a:xfrm>
          <a:prstGeom prst="roundRect">
            <a:avLst>
              <a:gd fmla="val 16667" name="adj"/>
            </a:avLst>
          </a:prstGeom>
          <a:solidFill>
            <a:srgbClr val="35A9B2"/>
          </a:solidFill>
          <a:ln cap="flat" cmpd="sng" w="9525">
            <a:solidFill>
              <a:srgbClr val="35A9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9674352" y="1097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Administración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530352" y="1783080"/>
            <a:ext cx="1545336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78B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603503" y="1856231"/>
            <a:ext cx="1399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Comunidad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40080" y="2167128"/>
            <a:ext cx="1515158" cy="6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Ciudadanos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Personas mayores</a:t>
            </a:r>
            <a:b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Personas con discapacidad</a:t>
            </a:r>
            <a:b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Comunidad en general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530352" y="3429000"/>
            <a:ext cx="1545336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78B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603503" y="3502152"/>
            <a:ext cx="1399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Acciones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640080" y="3813048"/>
            <a:ext cx="1317990" cy="546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Reportar problemas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Consultar mapa</a:t>
            </a:r>
            <a:b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Recibir alertas</a:t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2697480" y="1783080"/>
            <a:ext cx="1728216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5BE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3122942" y="1864035"/>
            <a:ext cx="8772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App móvil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2807208" y="2167128"/>
            <a:ext cx="1290738" cy="669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Ionic + Angular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e inicio</a:t>
            </a:r>
            <a:b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Reportar incidencia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2697480" y="3246120"/>
            <a:ext cx="1728216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5BE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3103353" y="3327076"/>
            <a:ext cx="9164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Funciones</a:t>
            </a:r>
            <a:endParaRPr/>
          </a:p>
        </p:txBody>
      </p:sp>
      <p:sp>
        <p:nvSpPr>
          <p:cNvPr id="113" name="Google Shape;113;p1"/>
          <p:cNvSpPr txBox="1"/>
          <p:nvPr/>
        </p:nvSpPr>
        <p:spPr>
          <a:xfrm>
            <a:off x="2807208" y="3630168"/>
            <a:ext cx="1569660" cy="823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Foto + GPS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Categoría + descripción</a:t>
            </a:r>
            <a:b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Mis reportes</a:t>
            </a:r>
            <a:b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Alertas</a:t>
            </a:r>
            <a:endParaRPr/>
          </a:p>
        </p:txBody>
      </p:sp>
      <p:sp>
        <p:nvSpPr>
          <p:cNvPr id="114" name="Google Shape;114;p1"/>
          <p:cNvSpPr/>
          <p:nvPr/>
        </p:nvSpPr>
        <p:spPr>
          <a:xfrm>
            <a:off x="5047488" y="1627632"/>
            <a:ext cx="1911095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6B04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5120640" y="1700784"/>
            <a:ext cx="1764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5157216" y="2011680"/>
            <a:ext cx="1205779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Registro y login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Control de acceso</a:t>
            </a: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5047488" y="2679192"/>
            <a:ext cx="1911095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6B04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372062" y="2760148"/>
            <a:ext cx="12619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Cloud Firestore</a:t>
            </a:r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5157216" y="3063240"/>
            <a:ext cx="1556836" cy="546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Base de datos NoSQL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Usuarios, reportes</a:t>
            </a:r>
            <a:b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Confirmaciones y alertas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5047488" y="3977639"/>
            <a:ext cx="1911095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6B04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5120640" y="4050791"/>
            <a:ext cx="1764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Storage + Functions</a:t>
            </a:r>
            <a:endParaRPr/>
          </a:p>
        </p:txBody>
      </p:sp>
      <p:sp>
        <p:nvSpPr>
          <p:cNvPr id="122" name="Google Shape;122;p1"/>
          <p:cNvSpPr txBox="1"/>
          <p:nvPr/>
        </p:nvSpPr>
        <p:spPr>
          <a:xfrm>
            <a:off x="5157216" y="4361688"/>
            <a:ext cx="1415772" cy="546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Fotografías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Lógica de negocio</a:t>
            </a:r>
            <a:b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Procesos automáticos</a:t>
            </a:r>
            <a:endParaRPr/>
          </a:p>
        </p:txBody>
      </p:sp>
      <p:sp>
        <p:nvSpPr>
          <p:cNvPr id="123" name="Google Shape;123;p1"/>
          <p:cNvSpPr/>
          <p:nvPr/>
        </p:nvSpPr>
        <p:spPr>
          <a:xfrm>
            <a:off x="7580375" y="1783080"/>
            <a:ext cx="1636776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969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7653527" y="1856231"/>
            <a:ext cx="1490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Google Maps</a:t>
            </a:r>
            <a:endParaRPr/>
          </a:p>
        </p:txBody>
      </p:sp>
      <p:sp>
        <p:nvSpPr>
          <p:cNvPr id="125" name="Google Shape;125;p1"/>
          <p:cNvSpPr txBox="1"/>
          <p:nvPr/>
        </p:nvSpPr>
        <p:spPr>
          <a:xfrm>
            <a:off x="7690103" y="2167128"/>
            <a:ext cx="1210588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Ubicación GPS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Mapa de reportes</a:t>
            </a:r>
            <a:endParaRPr/>
          </a:p>
        </p:txBody>
      </p:sp>
      <p:sp>
        <p:nvSpPr>
          <p:cNvPr id="126" name="Google Shape;126;p1"/>
          <p:cNvSpPr/>
          <p:nvPr/>
        </p:nvSpPr>
        <p:spPr>
          <a:xfrm>
            <a:off x="7580375" y="3063240"/>
            <a:ext cx="1636776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969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7653527" y="3136392"/>
            <a:ext cx="1490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Notificaciones</a:t>
            </a:r>
            <a:endParaRPr/>
          </a:p>
        </p:txBody>
      </p:sp>
      <p:sp>
        <p:nvSpPr>
          <p:cNvPr id="128" name="Google Shape;128;p1"/>
          <p:cNvSpPr txBox="1"/>
          <p:nvPr/>
        </p:nvSpPr>
        <p:spPr>
          <a:xfrm>
            <a:off x="7690103" y="3447288"/>
            <a:ext cx="164660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Firebase Cloud Messaging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Alertas preventivas</a:t>
            </a:r>
            <a:endParaRPr/>
          </a:p>
        </p:txBody>
      </p:sp>
      <p:sp>
        <p:nvSpPr>
          <p:cNvPr id="129" name="Google Shape;129;p1"/>
          <p:cNvSpPr/>
          <p:nvPr/>
        </p:nvSpPr>
        <p:spPr>
          <a:xfrm>
            <a:off x="7580375" y="4370832"/>
            <a:ext cx="1636776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969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7937867" y="4451788"/>
            <a:ext cx="9217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7690103" y="4754880"/>
            <a:ext cx="108876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Coincidencias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Confirmaciones</a:t>
            </a:r>
            <a:endParaRPr/>
          </a:p>
        </p:txBody>
      </p:sp>
      <p:sp>
        <p:nvSpPr>
          <p:cNvPr id="132" name="Google Shape;132;p1"/>
          <p:cNvSpPr/>
          <p:nvPr/>
        </p:nvSpPr>
        <p:spPr>
          <a:xfrm>
            <a:off x="9838944" y="1783080"/>
            <a:ext cx="1819656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5A9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9938422" y="1864035"/>
            <a:ext cx="16207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Panel administrativo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9948672" y="2167128"/>
            <a:ext cx="1215397" cy="546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Revisar reportes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Gestionar estados</a:t>
            </a:r>
            <a:b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Gestionar alertas</a:t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9838944" y="3337560"/>
            <a:ext cx="1819656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5A9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0215998" y="3418516"/>
            <a:ext cx="10655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9948672" y="3721608"/>
            <a:ext cx="1258678" cy="546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• Derivación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Resolución y cierre</a:t>
            </a:r>
            <a:b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Estadísticas</a:t>
            </a:r>
            <a:endParaRPr/>
          </a:p>
        </p:txBody>
      </p:sp>
      <p:cxnSp>
        <p:nvCxnSpPr>
          <p:cNvPr id="138" name="Google Shape;138;p1"/>
          <p:cNvCxnSpPr/>
          <p:nvPr/>
        </p:nvCxnSpPr>
        <p:spPr>
          <a:xfrm>
            <a:off x="2286000" y="2926080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12366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9" name="Google Shape;139;p1"/>
          <p:cNvCxnSpPr/>
          <p:nvPr/>
        </p:nvCxnSpPr>
        <p:spPr>
          <a:xfrm>
            <a:off x="4636008" y="2926080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12366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0" name="Google Shape;140;p1"/>
          <p:cNvCxnSpPr/>
          <p:nvPr/>
        </p:nvCxnSpPr>
        <p:spPr>
          <a:xfrm>
            <a:off x="7168896" y="2926080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12366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1" name="Google Shape;141;p1"/>
          <p:cNvCxnSpPr/>
          <p:nvPr/>
        </p:nvCxnSpPr>
        <p:spPr>
          <a:xfrm>
            <a:off x="9427464" y="2926080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12366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2" name="Google Shape;142;p1"/>
          <p:cNvSpPr/>
          <p:nvPr/>
        </p:nvSpPr>
        <p:spPr>
          <a:xfrm>
            <a:off x="321603" y="5660150"/>
            <a:ext cx="11548800" cy="7497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2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603495" y="5852147"/>
            <a:ext cx="1901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3667"/>
                </a:solidFill>
                <a:latin typeface="Arial"/>
                <a:ea typeface="Arial"/>
                <a:cs typeface="Arial"/>
                <a:sym typeface="Arial"/>
              </a:rPr>
              <a:t>Herramientas del proyecto</a:t>
            </a:r>
            <a:endParaRPr/>
          </a:p>
        </p:txBody>
      </p:sp>
      <p:sp>
        <p:nvSpPr>
          <p:cNvPr id="144" name="Google Shape;144;p1"/>
          <p:cNvSpPr txBox="1"/>
          <p:nvPr/>
        </p:nvSpPr>
        <p:spPr>
          <a:xfrm>
            <a:off x="2922267" y="5768545"/>
            <a:ext cx="106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 fuente</a:t>
            </a:r>
            <a:endParaRPr/>
          </a:p>
        </p:txBody>
      </p:sp>
      <p:sp>
        <p:nvSpPr>
          <p:cNvPr id="145" name="Google Shape;145;p1"/>
          <p:cNvSpPr txBox="1"/>
          <p:nvPr/>
        </p:nvSpPr>
        <p:spPr>
          <a:xfrm>
            <a:off x="5372594" y="5829995"/>
            <a:ext cx="110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Jira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 y tareas</a:t>
            </a:r>
            <a:endParaRPr/>
          </a:p>
        </p:txBody>
      </p:sp>
      <p:sp>
        <p:nvSpPr>
          <p:cNvPr id="146" name="Google Shape;146;p1"/>
          <p:cNvSpPr txBox="1"/>
          <p:nvPr/>
        </p:nvSpPr>
        <p:spPr>
          <a:xfrm>
            <a:off x="7979799" y="5778245"/>
            <a:ext cx="8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Prototipos</a:t>
            </a:r>
            <a:endParaRPr/>
          </a:p>
        </p:txBody>
      </p:sp>
      <p:sp>
        <p:nvSpPr>
          <p:cNvPr id="147" name="Google Shape;147;p1"/>
          <p:cNvSpPr txBox="1"/>
          <p:nvPr/>
        </p:nvSpPr>
        <p:spPr>
          <a:xfrm>
            <a:off x="9948666" y="5744295"/>
            <a:ext cx="176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2B3A"/>
                </a:solidFill>
                <a:latin typeface="Arial"/>
                <a:ea typeface="Arial"/>
                <a:cs typeface="Arial"/>
                <a:sym typeface="Arial"/>
              </a:rPr>
              <a:t>Seguridad y privacidad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acceso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Lenovo</dc:creator>
</cp:coreProperties>
</file>
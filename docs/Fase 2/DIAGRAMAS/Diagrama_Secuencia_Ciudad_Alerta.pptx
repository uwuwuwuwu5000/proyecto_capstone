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61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Explicación sugerida: El ciudadano inicia sesión, reporta una incidencia con evidencia y ubicación. La app consulta Firestore para detectar coincidencias. Si existe una incidencia similar, se confirma y se actualiza el contador; si no existe, se crea una nueva incidencia. Luego el administrador gestiona el estado y el sistema notifica al ciudadano.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103A70"/>
                </a:solidFill>
                <a:latin typeface="Aptos"/>
              </a:rPr>
              <a:t>DIAGRAMA DE SECUENCIA – CIUDAD ALERTA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5083"/>
            <a:ext cx="111556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dirty="0">
                <a:solidFill>
                  <a:srgbClr val="737D87"/>
                </a:solidFill>
                <a:latin typeface="+mj-lt"/>
              </a:rPr>
              <a:t>Caso principal: registrar, verificar y gestionar una incidencia urbana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325880" cy="566928"/>
          </a:xfrm>
          <a:prstGeom prst="rect">
            <a:avLst/>
          </a:prstGeom>
          <a:solidFill>
            <a:srgbClr val="E2F2FF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59" y="1144058"/>
            <a:ext cx="1234439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103A70"/>
                </a:solidFill>
                <a:latin typeface="+mj-lt"/>
              </a:rPr>
              <a:t>Ciudadano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82980" y="1554480"/>
            <a:ext cx="0" cy="4617720"/>
          </a:xfrm>
          <a:prstGeom prst="line">
            <a:avLst/>
          </a:prstGeom>
          <a:ln w="12700">
            <a:solidFill>
              <a:srgbClr val="737D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965960" y="987552"/>
            <a:ext cx="1325880" cy="566928"/>
          </a:xfrm>
          <a:prstGeom prst="rect">
            <a:avLst/>
          </a:prstGeom>
          <a:solidFill>
            <a:srgbClr val="E7F8ED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011679" y="1063267"/>
            <a:ext cx="123443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103A70"/>
                </a:solidFill>
                <a:latin typeface="+mj-lt"/>
              </a:rPr>
              <a:t>App Ciudad Alerta</a:t>
            </a:r>
            <a:br>
              <a:rPr sz="1050" dirty="0">
                <a:latin typeface="+mj-lt"/>
              </a:rPr>
            </a:br>
            <a:r>
              <a:rPr sz="1050" dirty="0">
                <a:latin typeface="+mj-lt"/>
              </a:rPr>
              <a:t>Ionic + Angular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28900" y="1554480"/>
            <a:ext cx="0" cy="4617720"/>
          </a:xfrm>
          <a:prstGeom prst="line">
            <a:avLst/>
          </a:prstGeom>
          <a:ln w="12700">
            <a:solidFill>
              <a:srgbClr val="737D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11880" y="987552"/>
            <a:ext cx="1325880" cy="566928"/>
          </a:xfrm>
          <a:prstGeom prst="rect">
            <a:avLst/>
          </a:prstGeom>
          <a:solidFill>
            <a:srgbClr val="FFF2DC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657600" y="1063267"/>
            <a:ext cx="123443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103A70"/>
                </a:solidFill>
                <a:latin typeface="+mj-lt"/>
              </a:rPr>
              <a:t>Firebase</a:t>
            </a:r>
            <a:br>
              <a:rPr sz="1050" dirty="0">
                <a:latin typeface="+mj-lt"/>
              </a:rPr>
            </a:br>
            <a:r>
              <a:rPr sz="1050" dirty="0">
                <a:latin typeface="+mj-lt"/>
              </a:rPr>
              <a:t>Auth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4820" y="1554480"/>
            <a:ext cx="0" cy="4617720"/>
          </a:xfrm>
          <a:prstGeom prst="line">
            <a:avLst/>
          </a:prstGeom>
          <a:ln w="12700">
            <a:solidFill>
              <a:srgbClr val="737D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257800" y="987552"/>
            <a:ext cx="1325880" cy="566928"/>
          </a:xfrm>
          <a:prstGeom prst="rect">
            <a:avLst/>
          </a:prstGeom>
          <a:solidFill>
            <a:srgbClr val="F4EEFC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303520" y="1063267"/>
            <a:ext cx="123443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103A70"/>
                </a:solidFill>
                <a:latin typeface="+mj-lt"/>
              </a:rPr>
              <a:t>Cloud Firestore</a:t>
            </a:r>
            <a:br>
              <a:rPr sz="1050" dirty="0">
                <a:latin typeface="+mj-lt"/>
              </a:rPr>
            </a:br>
            <a:r>
              <a:rPr sz="1050" dirty="0">
                <a:latin typeface="+mj-lt"/>
              </a:rPr>
              <a:t>NoSQL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20740" y="1554480"/>
            <a:ext cx="0" cy="4617720"/>
          </a:xfrm>
          <a:prstGeom prst="line">
            <a:avLst/>
          </a:prstGeom>
          <a:ln w="12700">
            <a:solidFill>
              <a:srgbClr val="737D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903720" y="987552"/>
            <a:ext cx="1325880" cy="566928"/>
          </a:xfrm>
          <a:prstGeom prst="rect">
            <a:avLst/>
          </a:prstGeom>
          <a:solidFill>
            <a:srgbClr val="E2F2FF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949440" y="1063267"/>
            <a:ext cx="123443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103A70"/>
                </a:solidFill>
                <a:latin typeface="+mj-lt"/>
              </a:rPr>
              <a:t>Gestión de</a:t>
            </a:r>
            <a:br>
              <a:rPr sz="1050" dirty="0">
                <a:latin typeface="+mj-lt"/>
              </a:rPr>
            </a:br>
            <a:r>
              <a:rPr sz="1050" dirty="0">
                <a:latin typeface="+mj-lt"/>
              </a:rPr>
              <a:t>Incidencias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66660" y="1554480"/>
            <a:ext cx="0" cy="4617720"/>
          </a:xfrm>
          <a:prstGeom prst="line">
            <a:avLst/>
          </a:prstGeom>
          <a:ln w="12700">
            <a:solidFill>
              <a:srgbClr val="737D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549640" y="987552"/>
            <a:ext cx="1325880" cy="566928"/>
          </a:xfrm>
          <a:prstGeom prst="rect">
            <a:avLst/>
          </a:prstGeom>
          <a:solidFill>
            <a:srgbClr val="E7F8ED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595360" y="1063267"/>
            <a:ext cx="123443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103A70"/>
                </a:solidFill>
                <a:latin typeface="+mj-lt"/>
              </a:rPr>
              <a:t>Administrador</a:t>
            </a:r>
            <a:br>
              <a:rPr sz="1050" dirty="0">
                <a:latin typeface="+mj-lt"/>
              </a:rPr>
            </a:br>
            <a:r>
              <a:rPr lang="es-CL" sz="1050" dirty="0">
                <a:latin typeface="+mj-lt"/>
              </a:rPr>
              <a:t>Otros</a:t>
            </a:r>
            <a:endParaRPr sz="1050" dirty="0">
              <a:latin typeface="+mj-lt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9212580" y="1554480"/>
            <a:ext cx="0" cy="4617720"/>
          </a:xfrm>
          <a:prstGeom prst="line">
            <a:avLst/>
          </a:prstGeom>
          <a:ln w="12700">
            <a:solidFill>
              <a:srgbClr val="737D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195560" y="987552"/>
            <a:ext cx="1325880" cy="566928"/>
          </a:xfrm>
          <a:prstGeom prst="rect">
            <a:avLst/>
          </a:prstGeom>
          <a:solidFill>
            <a:srgbClr val="FFF2DC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0241280" y="1063267"/>
            <a:ext cx="123443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103A70"/>
                </a:solidFill>
              </a:rPr>
              <a:t>Notificaciones</a:t>
            </a:r>
            <a:br>
              <a:rPr sz="1050" dirty="0"/>
            </a:br>
            <a:r>
              <a:rPr sz="1050" dirty="0"/>
              <a:t>FCM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858500" y="1554480"/>
            <a:ext cx="0" cy="4617720"/>
          </a:xfrm>
          <a:prstGeom prst="line">
            <a:avLst/>
          </a:prstGeom>
          <a:ln w="12700">
            <a:solidFill>
              <a:srgbClr val="737D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74036" y="1874519"/>
            <a:ext cx="109728" cy="4069080"/>
          </a:xfrm>
          <a:prstGeom prst="rect">
            <a:avLst/>
          </a:prstGeom>
          <a:solidFill>
            <a:srgbClr val="FFFFFF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4219956" y="2011680"/>
            <a:ext cx="109728" cy="640080"/>
          </a:xfrm>
          <a:prstGeom prst="rect">
            <a:avLst/>
          </a:prstGeom>
          <a:solidFill>
            <a:srgbClr val="FFFFFF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5865876" y="2816352"/>
            <a:ext cx="109728" cy="2697480"/>
          </a:xfrm>
          <a:prstGeom prst="rect">
            <a:avLst/>
          </a:prstGeom>
          <a:solidFill>
            <a:srgbClr val="FFFFFF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7511796" y="3337560"/>
            <a:ext cx="109728" cy="2011680"/>
          </a:xfrm>
          <a:prstGeom prst="rect">
            <a:avLst/>
          </a:prstGeom>
          <a:solidFill>
            <a:srgbClr val="FFFFFF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9157715" y="4553712"/>
            <a:ext cx="109728" cy="1325880"/>
          </a:xfrm>
          <a:prstGeom prst="rect">
            <a:avLst/>
          </a:prstGeom>
          <a:solidFill>
            <a:srgbClr val="FFFFFF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10803636" y="5440680"/>
            <a:ext cx="109728" cy="411480"/>
          </a:xfrm>
          <a:prstGeom prst="rect">
            <a:avLst/>
          </a:prstGeom>
          <a:solidFill>
            <a:srgbClr val="FFFFFF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1" name="Connector 30"/>
          <p:cNvCxnSpPr/>
          <p:nvPr/>
        </p:nvCxnSpPr>
        <p:spPr>
          <a:xfrm>
            <a:off x="982980" y="1901952"/>
            <a:ext cx="164592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5820" y="1690301"/>
            <a:ext cx="19202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2A32"/>
                </a:solidFill>
                <a:latin typeface="+mj-lt"/>
              </a:rPr>
              <a:t>1. Ingresa credenciales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628900" y="2121408"/>
            <a:ext cx="164592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91739" y="1909756"/>
            <a:ext cx="19202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2A32"/>
                </a:solidFill>
                <a:latin typeface="+mj-lt"/>
              </a:rPr>
              <a:t>2. Validar usuario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2628900" y="2395728"/>
            <a:ext cx="1645920" cy="0"/>
          </a:xfrm>
          <a:prstGeom prst="line">
            <a:avLst/>
          </a:prstGeom>
          <a:ln w="15875">
            <a:solidFill>
              <a:srgbClr val="5A64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91739" y="2184077"/>
            <a:ext cx="19202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2A32"/>
                </a:solidFill>
                <a:latin typeface="+mj-lt"/>
              </a:rPr>
              <a:t>3. Sesión autorizada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" y="2761488"/>
            <a:ext cx="164592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45820" y="2549837"/>
            <a:ext cx="19202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2A32"/>
                </a:solidFill>
                <a:latin typeface="+mj-lt"/>
              </a:rPr>
              <a:t>4. Selecciona Reportar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2980" y="2999232"/>
            <a:ext cx="164592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34008" y="2778728"/>
            <a:ext cx="235783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232A32"/>
                </a:solidFill>
                <a:latin typeface="+mj-lt"/>
              </a:rPr>
              <a:t>5. Foto, GPS, categoría y descripción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628900" y="3273552"/>
            <a:ext cx="329184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314700" y="3061901"/>
            <a:ext cx="19202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2A32"/>
                </a:solidFill>
                <a:latin typeface="+mj-lt"/>
              </a:rPr>
              <a:t>6. Consultar similares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2628900" y="3547872"/>
            <a:ext cx="3291840" cy="0"/>
          </a:xfrm>
          <a:prstGeom prst="line">
            <a:avLst/>
          </a:prstGeom>
          <a:ln w="15875">
            <a:solidFill>
              <a:srgbClr val="5A64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314700" y="3336220"/>
            <a:ext cx="19202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2A32"/>
                </a:solidFill>
                <a:latin typeface="+mj-lt"/>
              </a:rPr>
              <a:t>7. Retorna coincidencias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95328" y="3663957"/>
            <a:ext cx="6492240" cy="1078992"/>
          </a:xfrm>
          <a:prstGeom prst="rect">
            <a:avLst/>
          </a:prstGeom>
          <a:solidFill>
            <a:srgbClr val="FCFDFF"/>
          </a:solidFill>
          <a:ln w="12700">
            <a:solidFill>
              <a:srgbClr val="73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1783080" y="3767328"/>
            <a:ext cx="960120" cy="256032"/>
          </a:xfrm>
          <a:prstGeom prst="rect">
            <a:avLst/>
          </a:prstGeom>
          <a:solidFill>
            <a:srgbClr val="103A70"/>
          </a:solidFill>
          <a:ln>
            <a:solidFill>
              <a:srgbClr val="103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1801368" y="3747701"/>
            <a:ext cx="9144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+mj-lt"/>
              </a:rPr>
              <a:t>alt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81744" y="3791971"/>
            <a:ext cx="3794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D04646"/>
                </a:solidFill>
                <a:latin typeface="+mj-lt"/>
              </a:rPr>
              <a:t>[Existen incidencias similares]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28900" y="4096512"/>
            <a:ext cx="493776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028049" y="3831388"/>
            <a:ext cx="2436876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232A32"/>
                </a:solidFill>
              </a:rPr>
              <a:t>8A. Confirmar incidencia existente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5920740" y="4352544"/>
            <a:ext cx="164592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753090" y="4092998"/>
            <a:ext cx="225476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dirty="0">
                <a:solidFill>
                  <a:srgbClr val="232A32"/>
                </a:solidFill>
              </a:rPr>
              <a:t>9A. Registrar confirmación / contador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38528" y="4505204"/>
            <a:ext cx="32004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D04646"/>
                </a:solidFill>
                <a:latin typeface="+mj-lt"/>
              </a:rPr>
              <a:t>[No existen similares]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628900" y="4754880"/>
            <a:ext cx="329184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314700" y="4543229"/>
            <a:ext cx="19202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2A32"/>
                </a:solidFill>
              </a:rPr>
              <a:t>8B. Crear nueva incidencia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920740" y="5065776"/>
            <a:ext cx="164592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783580" y="4854125"/>
            <a:ext cx="19202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2A32"/>
                </a:solidFill>
              </a:rPr>
              <a:t>10. Incidencia registrada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566660" y="5358384"/>
            <a:ext cx="164592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397797" y="5068274"/>
            <a:ext cx="225796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2A32"/>
                </a:solidFill>
              </a:rPr>
              <a:t>11. Enviar a revisión / derivación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5920740" y="5650992"/>
            <a:ext cx="329184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606538" y="5447036"/>
            <a:ext cx="1988821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232A32"/>
                </a:solidFill>
              </a:rPr>
              <a:t>12. Actualizar estado e historial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920740" y="5907024"/>
            <a:ext cx="4937760" cy="0"/>
          </a:xfrm>
          <a:prstGeom prst="line">
            <a:avLst/>
          </a:prstGeom>
          <a:ln w="15875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429500" y="5703068"/>
            <a:ext cx="19202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232A32"/>
                </a:solidFill>
              </a:rPr>
              <a:t>13. Generar notificación</a:t>
            </a:r>
          </a:p>
        </p:txBody>
      </p:sp>
      <p:cxnSp>
        <p:nvCxnSpPr>
          <p:cNvPr id="64" name="Connector 63"/>
          <p:cNvCxnSpPr/>
          <p:nvPr/>
        </p:nvCxnSpPr>
        <p:spPr>
          <a:xfrm flipH="1">
            <a:off x="982980" y="6163056"/>
            <a:ext cx="9875520" cy="0"/>
          </a:xfrm>
          <a:prstGeom prst="line">
            <a:avLst/>
          </a:prstGeom>
          <a:ln w="15875">
            <a:solidFill>
              <a:srgbClr val="5A64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753146" y="5951405"/>
            <a:ext cx="255117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2A32"/>
                </a:solidFill>
              </a:rPr>
              <a:t>14. Informa avance al ciudadano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6393216"/>
            <a:ext cx="10972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dirty="0">
                <a:solidFill>
                  <a:srgbClr val="737D87"/>
                </a:solidFill>
                <a:latin typeface="+mj-lt"/>
              </a:rPr>
              <a:t>Secuencia resumida del MVP: autenticación → reporte → validación comunitaria → gestión municipal → notificación.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207</Words>
  <Application>Microsoft Office PowerPoint</Application>
  <PresentationFormat>Panorámica</PresentationFormat>
  <Paragraphs>29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claudio torres</cp:lastModifiedBy>
  <cp:revision>3</cp:revision>
  <dcterms:created xsi:type="dcterms:W3CDTF">2013-01-27T09:14:16Z</dcterms:created>
  <dcterms:modified xsi:type="dcterms:W3CDTF">2026-09-07T01:35:05Z</dcterms:modified>
  <cp:category/>
</cp:coreProperties>
</file>
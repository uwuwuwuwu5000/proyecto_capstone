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7" roundtripDataSignature="AMtx7mhURzs915rTQSeVDurBUdgjun4y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365760" y="109728"/>
            <a:ext cx="11430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43968"/>
                </a:solidFill>
                <a:latin typeface="Arial"/>
                <a:ea typeface="Arial"/>
                <a:cs typeface="Arial"/>
                <a:sym typeface="Arial"/>
              </a:rPr>
              <a:t>DIAGRAMA DE COMPONENTES – CIUDAD ALERTA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365760" y="449616"/>
            <a:ext cx="11430000" cy="307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9737D"/>
                </a:solidFill>
                <a:latin typeface="Calibri"/>
                <a:ea typeface="Calibri"/>
                <a:cs typeface="Calibri"/>
                <a:sym typeface="Calibri"/>
              </a:rPr>
              <a:t>Componentes principales del sistema y sus relaciones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>
            <a:off x="4617720" y="2423160"/>
            <a:ext cx="2286000" cy="914400"/>
          </a:xfrm>
          <a:prstGeom prst="rect">
            <a:avLst/>
          </a:prstGeom>
          <a:solidFill>
            <a:srgbClr val="DEEFFC"/>
          </a:solidFill>
          <a:ln cap="flat" cmpd="sng" w="152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4526280" y="2587752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4526280" y="2788920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4727448" y="2565950"/>
            <a:ext cx="2066543" cy="253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3968"/>
                </a:solidFill>
                <a:latin typeface="Arial"/>
                <a:ea typeface="Arial"/>
                <a:cs typeface="Arial"/>
                <a:sym typeface="Arial"/>
              </a:rPr>
              <a:t>Sistema Ciudad Alerta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4727448" y="2932435"/>
            <a:ext cx="2066543" cy="26161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Gestión central de incidencias</a:t>
            </a:r>
            <a:endParaRPr/>
          </a:p>
        </p:txBody>
      </p:sp>
      <p:sp>
        <p:nvSpPr>
          <p:cNvPr id="91" name="Google Shape;91;p1"/>
          <p:cNvSpPr/>
          <p:nvPr/>
        </p:nvSpPr>
        <p:spPr>
          <a:xfrm>
            <a:off x="685800" y="1508760"/>
            <a:ext cx="1828800" cy="777240"/>
          </a:xfrm>
          <a:prstGeom prst="rect">
            <a:avLst/>
          </a:prstGeom>
          <a:solidFill>
            <a:srgbClr val="E4F5E9"/>
          </a:solidFill>
          <a:ln cap="flat" cmpd="sng" w="152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594360" y="1673351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594360" y="1874519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95528" y="1573825"/>
            <a:ext cx="1609344" cy="253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3968"/>
                </a:solidFill>
                <a:latin typeface="Arial"/>
                <a:ea typeface="Arial"/>
                <a:cs typeface="Arial"/>
                <a:sym typeface="Arial"/>
              </a:rPr>
              <a:t>Ciudadano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795528" y="1933758"/>
            <a:ext cx="1609344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Usuario de la aplicación</a:t>
            </a:r>
            <a:endParaRPr/>
          </a:p>
        </p:txBody>
      </p:sp>
      <p:sp>
        <p:nvSpPr>
          <p:cNvPr id="96" name="Google Shape;96;p1"/>
          <p:cNvSpPr/>
          <p:nvPr/>
        </p:nvSpPr>
        <p:spPr>
          <a:xfrm>
            <a:off x="685800" y="3246120"/>
            <a:ext cx="1828800" cy="777240"/>
          </a:xfrm>
          <a:prstGeom prst="rect">
            <a:avLst/>
          </a:prstGeom>
          <a:solidFill>
            <a:srgbClr val="E4F5E9"/>
          </a:solidFill>
          <a:ln cap="flat" cmpd="sng" w="152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594360" y="3410712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594360" y="3611879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795528" y="3388910"/>
            <a:ext cx="1609344" cy="253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3968"/>
                </a:solidFill>
                <a:latin typeface="Arial"/>
                <a:ea typeface="Arial"/>
                <a:cs typeface="Arial"/>
                <a:sym typeface="Arial"/>
              </a:rPr>
              <a:t>Administrador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795528" y="3694508"/>
            <a:ext cx="1609344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Gestión y seguimiento</a:t>
            </a:r>
            <a:endParaRPr/>
          </a:p>
        </p:txBody>
      </p:sp>
      <p:sp>
        <p:nvSpPr>
          <p:cNvPr id="101" name="Google Shape;101;p1"/>
          <p:cNvSpPr/>
          <p:nvPr/>
        </p:nvSpPr>
        <p:spPr>
          <a:xfrm>
            <a:off x="8549640" y="868680"/>
            <a:ext cx="2148840" cy="713232"/>
          </a:xfrm>
          <a:prstGeom prst="rect">
            <a:avLst/>
          </a:prstGeom>
          <a:solidFill>
            <a:srgbClr val="FFF0D6"/>
          </a:solidFill>
          <a:ln cap="flat" cmpd="sng" w="152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8458200" y="1033271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8458200" y="1234440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8659367" y="1011469"/>
            <a:ext cx="1929384" cy="253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3968"/>
                </a:solidFill>
                <a:latin typeface="Arial"/>
                <a:ea typeface="Arial"/>
                <a:cs typeface="Arial"/>
                <a:sym typeface="Arial"/>
              </a:rPr>
              <a:t>Autenticación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8659367" y="1285065"/>
            <a:ext cx="19293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Firebase Authentication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8549640" y="1783080"/>
            <a:ext cx="2148840" cy="713232"/>
          </a:xfrm>
          <a:prstGeom prst="rect">
            <a:avLst/>
          </a:prstGeom>
          <a:solidFill>
            <a:srgbClr val="FFF0D6"/>
          </a:solidFill>
          <a:ln cap="flat" cmpd="sng" w="152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8458200" y="1947672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8458200" y="2148840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8659367" y="1925869"/>
            <a:ext cx="1929384" cy="253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3968"/>
                </a:solidFill>
                <a:latin typeface="Arial"/>
                <a:ea typeface="Arial"/>
                <a:cs typeface="Arial"/>
                <a:sym typeface="Arial"/>
              </a:rPr>
              <a:t>Gestión de Reportes</a:t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8659367" y="2199464"/>
            <a:ext cx="19293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Foto · GPS · categoría</a:t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>
            <a:off x="8549640" y="2697480"/>
            <a:ext cx="2148840" cy="713232"/>
          </a:xfrm>
          <a:prstGeom prst="rect">
            <a:avLst/>
          </a:prstGeom>
          <a:solidFill>
            <a:srgbClr val="F2EAFC"/>
          </a:solidFill>
          <a:ln cap="flat" cmpd="sng" w="152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8458200" y="2862072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8458200" y="3063240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 txBox="1"/>
          <p:nvPr/>
        </p:nvSpPr>
        <p:spPr>
          <a:xfrm>
            <a:off x="8659367" y="2840270"/>
            <a:ext cx="1929384" cy="253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3968"/>
                </a:solidFill>
                <a:latin typeface="Arial"/>
                <a:ea typeface="Arial"/>
                <a:cs typeface="Arial"/>
                <a:sym typeface="Arial"/>
              </a:rPr>
              <a:t>Validación Comunitaria</a:t>
            </a:r>
            <a:endParaRPr/>
          </a:p>
        </p:txBody>
      </p:sp>
      <p:sp>
        <p:nvSpPr>
          <p:cNvPr id="115" name="Google Shape;115;p1"/>
          <p:cNvSpPr txBox="1"/>
          <p:nvPr/>
        </p:nvSpPr>
        <p:spPr>
          <a:xfrm>
            <a:off x="8659367" y="3113865"/>
            <a:ext cx="19293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Coincidencias · confirmación</a:t>
            </a:r>
            <a:endParaRPr/>
          </a:p>
        </p:txBody>
      </p:sp>
      <p:sp>
        <p:nvSpPr>
          <p:cNvPr id="116" name="Google Shape;116;p1"/>
          <p:cNvSpPr/>
          <p:nvPr/>
        </p:nvSpPr>
        <p:spPr>
          <a:xfrm>
            <a:off x="8549640" y="3611880"/>
            <a:ext cx="2148840" cy="713232"/>
          </a:xfrm>
          <a:prstGeom prst="rect">
            <a:avLst/>
          </a:prstGeom>
          <a:solidFill>
            <a:srgbClr val="F2EAFC"/>
          </a:solidFill>
          <a:ln cap="flat" cmpd="sng" w="152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8458200" y="3776472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/>
          <p:nvPr/>
        </p:nvSpPr>
        <p:spPr>
          <a:xfrm>
            <a:off x="8458200" y="3977640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"/>
          <p:cNvSpPr txBox="1"/>
          <p:nvPr/>
        </p:nvSpPr>
        <p:spPr>
          <a:xfrm>
            <a:off x="8659367" y="3754670"/>
            <a:ext cx="1929384" cy="253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3968"/>
                </a:solidFill>
                <a:latin typeface="Arial"/>
                <a:ea typeface="Arial"/>
                <a:cs typeface="Arial"/>
                <a:sym typeface="Arial"/>
              </a:rPr>
              <a:t>Mapa y Seguimiento</a:t>
            </a:r>
            <a:endParaRPr/>
          </a:p>
        </p:txBody>
      </p:sp>
      <p:sp>
        <p:nvSpPr>
          <p:cNvPr id="120" name="Google Shape;120;p1"/>
          <p:cNvSpPr txBox="1"/>
          <p:nvPr/>
        </p:nvSpPr>
        <p:spPr>
          <a:xfrm>
            <a:off x="8659367" y="4028264"/>
            <a:ext cx="19293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Estados · historial</a:t>
            </a:r>
            <a:endParaRPr/>
          </a:p>
        </p:txBody>
      </p:sp>
      <p:sp>
        <p:nvSpPr>
          <p:cNvPr id="121" name="Google Shape;121;p1"/>
          <p:cNvSpPr/>
          <p:nvPr/>
        </p:nvSpPr>
        <p:spPr>
          <a:xfrm>
            <a:off x="8549640" y="4526280"/>
            <a:ext cx="2148840" cy="713232"/>
          </a:xfrm>
          <a:prstGeom prst="rect">
            <a:avLst/>
          </a:prstGeom>
          <a:solidFill>
            <a:srgbClr val="FFF0D6"/>
          </a:solidFill>
          <a:ln cap="flat" cmpd="sng" w="152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"/>
          <p:cNvSpPr/>
          <p:nvPr/>
        </p:nvSpPr>
        <p:spPr>
          <a:xfrm>
            <a:off x="8458200" y="4690872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"/>
          <p:cNvSpPr/>
          <p:nvPr/>
        </p:nvSpPr>
        <p:spPr>
          <a:xfrm>
            <a:off x="8458200" y="4892040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"/>
          <p:cNvSpPr txBox="1"/>
          <p:nvPr/>
        </p:nvSpPr>
        <p:spPr>
          <a:xfrm>
            <a:off x="8659367" y="4669070"/>
            <a:ext cx="1929384" cy="253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3968"/>
                </a:solidFill>
                <a:latin typeface="Arial"/>
                <a:ea typeface="Arial"/>
                <a:cs typeface="Arial"/>
                <a:sym typeface="Arial"/>
              </a:rPr>
              <a:t>Alertas y Notificaciones</a:t>
            </a:r>
            <a:endParaRPr/>
          </a:p>
        </p:txBody>
      </p:sp>
      <p:sp>
        <p:nvSpPr>
          <p:cNvPr id="125" name="Google Shape;125;p1"/>
          <p:cNvSpPr txBox="1"/>
          <p:nvPr/>
        </p:nvSpPr>
        <p:spPr>
          <a:xfrm>
            <a:off x="8659367" y="4942665"/>
            <a:ext cx="19293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FCM · alertas preventivas</a:t>
            </a:r>
            <a:endParaRPr/>
          </a:p>
        </p:txBody>
      </p:sp>
      <p:sp>
        <p:nvSpPr>
          <p:cNvPr id="126" name="Google Shape;126;p1"/>
          <p:cNvSpPr/>
          <p:nvPr/>
        </p:nvSpPr>
        <p:spPr>
          <a:xfrm>
            <a:off x="8549640" y="5440680"/>
            <a:ext cx="2148840" cy="713232"/>
          </a:xfrm>
          <a:prstGeom prst="rect">
            <a:avLst/>
          </a:prstGeom>
          <a:solidFill>
            <a:srgbClr val="E4F5E9"/>
          </a:solidFill>
          <a:ln cap="flat" cmpd="sng" w="152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8458200" y="5605272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"/>
          <p:cNvSpPr/>
          <p:nvPr/>
        </p:nvSpPr>
        <p:spPr>
          <a:xfrm>
            <a:off x="8458200" y="5806440"/>
            <a:ext cx="201168" cy="118872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8659367" y="5583470"/>
            <a:ext cx="1929384" cy="253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43968"/>
                </a:solidFill>
                <a:latin typeface="Arial"/>
                <a:ea typeface="Arial"/>
                <a:cs typeface="Arial"/>
                <a:sym typeface="Arial"/>
              </a:rPr>
              <a:t>Panel Administrativo</a:t>
            </a:r>
            <a:endParaRPr/>
          </a:p>
        </p:txBody>
      </p:sp>
      <p:sp>
        <p:nvSpPr>
          <p:cNvPr id="130" name="Google Shape;130;p1"/>
          <p:cNvSpPr txBox="1"/>
          <p:nvPr/>
        </p:nvSpPr>
        <p:spPr>
          <a:xfrm>
            <a:off x="8659367" y="5857065"/>
            <a:ext cx="19293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232A32"/>
                </a:solidFill>
                <a:latin typeface="Calibri"/>
                <a:ea typeface="Calibri"/>
                <a:cs typeface="Calibri"/>
                <a:sym typeface="Calibri"/>
              </a:rPr>
              <a:t>Derivación · resolución</a:t>
            </a:r>
            <a:endParaRPr/>
          </a:p>
        </p:txBody>
      </p:sp>
      <p:cxnSp>
        <p:nvCxnSpPr>
          <p:cNvPr id="131" name="Google Shape;131;p1"/>
          <p:cNvCxnSpPr/>
          <p:nvPr/>
        </p:nvCxnSpPr>
        <p:spPr>
          <a:xfrm>
            <a:off x="2514600" y="1901952"/>
            <a:ext cx="2103120" cy="795528"/>
          </a:xfrm>
          <a:prstGeom prst="straightConnector1">
            <a:avLst/>
          </a:prstGeom>
          <a:noFill/>
          <a:ln cap="flat" cmpd="sng" w="19050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2" name="Google Shape;132;p1"/>
          <p:cNvCxnSpPr/>
          <p:nvPr/>
        </p:nvCxnSpPr>
        <p:spPr>
          <a:xfrm flipH="1" rot="10800000">
            <a:off x="2514600" y="2971800"/>
            <a:ext cx="2103120" cy="667512"/>
          </a:xfrm>
          <a:prstGeom prst="straightConnector1">
            <a:avLst/>
          </a:prstGeom>
          <a:noFill/>
          <a:ln cap="flat" cmpd="sng" w="19050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3" name="Google Shape;133;p1"/>
          <p:cNvCxnSpPr/>
          <p:nvPr/>
        </p:nvCxnSpPr>
        <p:spPr>
          <a:xfrm flipH="1" rot="10800000">
            <a:off x="6903720" y="1225296"/>
            <a:ext cx="1645920" cy="1472184"/>
          </a:xfrm>
          <a:prstGeom prst="straightConnector1">
            <a:avLst/>
          </a:prstGeom>
          <a:noFill/>
          <a:ln cap="flat" cmpd="sng" w="19050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4" name="Google Shape;134;p1"/>
          <p:cNvCxnSpPr/>
          <p:nvPr/>
        </p:nvCxnSpPr>
        <p:spPr>
          <a:xfrm flipH="1" rot="10800000">
            <a:off x="6903720" y="2139696"/>
            <a:ext cx="1645920" cy="649224"/>
          </a:xfrm>
          <a:prstGeom prst="straightConnector1">
            <a:avLst/>
          </a:prstGeom>
          <a:noFill/>
          <a:ln cap="flat" cmpd="sng" w="19050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5" name="Google Shape;135;p1"/>
          <p:cNvCxnSpPr/>
          <p:nvPr/>
        </p:nvCxnSpPr>
        <p:spPr>
          <a:xfrm>
            <a:off x="6903720" y="2880360"/>
            <a:ext cx="1645920" cy="173736"/>
          </a:xfrm>
          <a:prstGeom prst="straightConnector1">
            <a:avLst/>
          </a:prstGeom>
          <a:noFill/>
          <a:ln cap="flat" cmpd="sng" w="19050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6" name="Google Shape;136;p1"/>
          <p:cNvCxnSpPr/>
          <p:nvPr/>
        </p:nvCxnSpPr>
        <p:spPr>
          <a:xfrm>
            <a:off x="6903720" y="2971800"/>
            <a:ext cx="1645920" cy="996696"/>
          </a:xfrm>
          <a:prstGeom prst="straightConnector1">
            <a:avLst/>
          </a:prstGeom>
          <a:noFill/>
          <a:ln cap="flat" cmpd="sng" w="19050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7" name="Google Shape;137;p1"/>
          <p:cNvCxnSpPr/>
          <p:nvPr/>
        </p:nvCxnSpPr>
        <p:spPr>
          <a:xfrm>
            <a:off x="6903720" y="3063240"/>
            <a:ext cx="1645920" cy="1819656"/>
          </a:xfrm>
          <a:prstGeom prst="straightConnector1">
            <a:avLst/>
          </a:prstGeom>
          <a:noFill/>
          <a:ln cap="flat" cmpd="sng" w="19050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138" name="Google Shape;138;p1"/>
          <p:cNvCxnSpPr/>
          <p:nvPr/>
        </p:nvCxnSpPr>
        <p:spPr>
          <a:xfrm>
            <a:off x="6903720" y="3154680"/>
            <a:ext cx="1645920" cy="2642616"/>
          </a:xfrm>
          <a:prstGeom prst="straightConnector1">
            <a:avLst/>
          </a:prstGeom>
          <a:noFill/>
          <a:ln cap="flat" cmpd="sng" w="19050">
            <a:solidFill>
              <a:srgbClr val="5F697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Lenovo</dc:creator>
</cp:coreProperties>
</file>
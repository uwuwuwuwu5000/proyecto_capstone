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437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67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94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Este modelo representa la persistencia de Ciudad Alerta en Cloud Firestore. Firestore es NoSQL, por lo que la estructura se organiza en colecciones, documentos y campos. Las líneas muestran referencias lógicas entre documentos, no relaciones PK/FK de una base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09728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13E74"/>
                </a:solidFill>
                <a:latin typeface="Aptos"/>
              </a:rPr>
              <a:t>MODELO DE BASE DE DATOS NoSQL – CIUDAD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9616"/>
            <a:ext cx="113842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>
                <a:solidFill>
                  <a:srgbClr val="6E767E"/>
                </a:solidFill>
                <a:latin typeface="+mj-lt"/>
              </a:rPr>
              <a:t>Cloud Firestore · Colecciones → Documentos → Campos · Referencias lógicas entre documentos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841248"/>
            <a:ext cx="11548872" cy="5440680"/>
          </a:xfrm>
          <a:prstGeom prst="roundRect">
            <a:avLst/>
          </a:prstGeom>
          <a:solidFill>
            <a:srgbClr val="FBFCFD"/>
          </a:solidFill>
          <a:ln>
            <a:solidFill>
              <a:srgbClr val="40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17784" y="940636"/>
            <a:ext cx="2468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13E74"/>
                </a:solidFill>
                <a:latin typeface="+mj-lt"/>
              </a:rPr>
              <a:t>Cloud Firestore (NoSQL)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011680" cy="1508760"/>
          </a:xfrm>
          <a:prstGeom prst="roundRect">
            <a:avLst/>
          </a:prstGeom>
          <a:solidFill>
            <a:srgbClr val="EBF5FE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011680" cy="347472"/>
          </a:xfrm>
          <a:prstGeom prst="rect">
            <a:avLst/>
          </a:prstGeom>
          <a:solidFill>
            <a:srgbClr val="408BD6"/>
          </a:solidFill>
          <a:ln>
            <a:solidFill>
              <a:srgbClr val="40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7512" y="1336583"/>
            <a:ext cx="18653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46504"/>
            <a:ext cx="1792224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  <a:latin typeface="+mj-lt"/>
              </a:rPr>
              <a:t>{usuarioId}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nombre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email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rol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fechaRegistro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143000"/>
            <a:ext cx="2240280" cy="2057400"/>
          </a:xfrm>
          <a:prstGeom prst="roundRect">
            <a:avLst/>
          </a:prstGeom>
          <a:solidFill>
            <a:srgbClr val="EBF9F1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063240" y="1143000"/>
            <a:ext cx="2240280" cy="347472"/>
          </a:xfrm>
          <a:prstGeom prst="rect">
            <a:avLst/>
          </a:prstGeom>
          <a:solidFill>
            <a:srgbClr val="26AA69"/>
          </a:solidFill>
          <a:ln>
            <a:solidFill>
              <a:srgbClr val="26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136392" y="1153704"/>
            <a:ext cx="20939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reportes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1563624"/>
            <a:ext cx="2020824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  <a:latin typeface="+mj-lt"/>
              </a:rPr>
              <a:t>{reporteId}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usuarioId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categoriaId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descripcion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ubicacion {lat,lng}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fotoUrl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estado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prioridad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fechaCreacion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1325880"/>
            <a:ext cx="1920240" cy="1417320"/>
          </a:xfrm>
          <a:prstGeom prst="roundRect">
            <a:avLst/>
          </a:prstGeom>
          <a:solidFill>
            <a:srgbClr val="FFF6E4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5806440" y="1325880"/>
            <a:ext cx="1920240" cy="347472"/>
          </a:xfrm>
          <a:prstGeom prst="rect">
            <a:avLst/>
          </a:prstGeom>
          <a:solidFill>
            <a:srgbClr val="EFA441"/>
          </a:solidFill>
          <a:ln>
            <a:solidFill>
              <a:srgbClr val="EF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879592" y="1336584"/>
            <a:ext cx="177393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categorias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1746504"/>
            <a:ext cx="170078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  <a:latin typeface="+mj-lt"/>
              </a:rPr>
              <a:t>{categoriaId}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nombre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descripcion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activa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143000"/>
            <a:ext cx="2331720" cy="1691640"/>
          </a:xfrm>
          <a:prstGeom prst="roundRect">
            <a:avLst/>
          </a:prstGeom>
          <a:solidFill>
            <a:srgbClr val="F6EFFC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8366760" y="1143000"/>
            <a:ext cx="2331720" cy="347472"/>
          </a:xfrm>
          <a:prstGeom prst="rect">
            <a:avLst/>
          </a:prstGeom>
          <a:solidFill>
            <a:srgbClr val="835BB5"/>
          </a:solidFill>
          <a:ln>
            <a:solidFill>
              <a:srgbClr val="83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439912" y="1153704"/>
            <a:ext cx="218541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confirmaciones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1563624"/>
            <a:ext cx="2112263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  <a:latin typeface="+mj-lt"/>
              </a:rPr>
              <a:t>{confirmacionId}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reporteId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usuarioId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fecha</a:t>
            </a:r>
            <a:br>
              <a:rPr sz="1000" dirty="0">
                <a:latin typeface="+mj-lt"/>
              </a:rPr>
            </a:br>
            <a:r>
              <a:rPr sz="1000" dirty="0">
                <a:latin typeface="+mj-lt"/>
              </a:rPr>
              <a:t>tipo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03320"/>
            <a:ext cx="2240280" cy="1783080"/>
          </a:xfrm>
          <a:prstGeom prst="roundRect">
            <a:avLst/>
          </a:prstGeom>
          <a:solidFill>
            <a:srgbClr val="F6EFFC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594360" y="3703320"/>
            <a:ext cx="2240280" cy="347472"/>
          </a:xfrm>
          <a:prstGeom prst="rect">
            <a:avLst/>
          </a:prstGeom>
          <a:solidFill>
            <a:srgbClr val="835BB5"/>
          </a:solidFill>
          <a:ln>
            <a:solidFill>
              <a:srgbClr val="83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" y="3714024"/>
            <a:ext cx="209397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participacion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123944"/>
            <a:ext cx="202082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</a:rPr>
              <a:t>{participacionId}</a:t>
            </a:r>
            <a:br>
              <a:rPr sz="1000" dirty="0"/>
            </a:br>
            <a:r>
              <a:rPr sz="1000" dirty="0"/>
              <a:t>usuarioId</a:t>
            </a:r>
            <a:br>
              <a:rPr sz="1000" dirty="0"/>
            </a:br>
            <a:r>
              <a:rPr sz="1000" dirty="0"/>
              <a:t>puntos</a:t>
            </a:r>
            <a:br>
              <a:rPr sz="1000" dirty="0"/>
            </a:br>
            <a:r>
              <a:rPr sz="1000" dirty="0"/>
              <a:t>nivel</a:t>
            </a:r>
            <a:br>
              <a:rPr sz="1000" dirty="0"/>
            </a:br>
            <a:r>
              <a:rPr sz="1000" dirty="0"/>
              <a:t>reconocimientos</a:t>
            </a:r>
            <a:br>
              <a:rPr sz="1000" dirty="0"/>
            </a:br>
            <a:r>
              <a:rPr sz="1000" dirty="0"/>
              <a:t>fechaActualizacion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03320"/>
            <a:ext cx="2331720" cy="1874519"/>
          </a:xfrm>
          <a:prstGeom prst="roundRect">
            <a:avLst/>
          </a:prstGeom>
          <a:solidFill>
            <a:srgbClr val="EBF5FE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3337560" y="3703320"/>
            <a:ext cx="2331720" cy="347472"/>
          </a:xfrm>
          <a:prstGeom prst="rect">
            <a:avLst/>
          </a:prstGeom>
          <a:solidFill>
            <a:srgbClr val="408BD6"/>
          </a:solidFill>
          <a:ln>
            <a:solidFill>
              <a:srgbClr val="408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3410712" y="3714024"/>
            <a:ext cx="218541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historialEstados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4123944"/>
            <a:ext cx="2112263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</a:rPr>
              <a:t>{historialId}</a:t>
            </a:r>
            <a:br>
              <a:rPr sz="1000" dirty="0"/>
            </a:br>
            <a:r>
              <a:rPr sz="1000" dirty="0"/>
              <a:t>reporteId</a:t>
            </a:r>
            <a:br>
              <a:rPr sz="1000" dirty="0"/>
            </a:br>
            <a:r>
              <a:rPr sz="1000" dirty="0"/>
              <a:t>estadoAnterior</a:t>
            </a:r>
            <a:br>
              <a:rPr sz="1000" dirty="0"/>
            </a:br>
            <a:r>
              <a:rPr sz="1000" dirty="0"/>
              <a:t>estadoNuevo</a:t>
            </a:r>
            <a:br>
              <a:rPr sz="1000" dirty="0"/>
            </a:br>
            <a:r>
              <a:rPr sz="1000" dirty="0"/>
              <a:t>fecha</a:t>
            </a:r>
            <a:br>
              <a:rPr sz="1000" dirty="0"/>
            </a:br>
            <a:r>
              <a:rPr sz="1000" dirty="0"/>
              <a:t>usuarioResponsable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03320"/>
            <a:ext cx="2148840" cy="1874519"/>
          </a:xfrm>
          <a:prstGeom prst="roundRect">
            <a:avLst/>
          </a:prstGeom>
          <a:solidFill>
            <a:srgbClr val="FFF6E4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6172200" y="3703320"/>
            <a:ext cx="2148840" cy="347472"/>
          </a:xfrm>
          <a:prstGeom prst="rect">
            <a:avLst/>
          </a:prstGeom>
          <a:solidFill>
            <a:srgbClr val="EFA441"/>
          </a:solidFill>
          <a:ln>
            <a:solidFill>
              <a:srgbClr val="EF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245352" y="3714024"/>
            <a:ext cx="200253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+mj-lt"/>
              </a:rPr>
              <a:t>alertas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123944"/>
            <a:ext cx="1929384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</a:rPr>
              <a:t>{alertaId}</a:t>
            </a:r>
            <a:br>
              <a:rPr sz="1000" dirty="0"/>
            </a:br>
            <a:r>
              <a:rPr sz="1000" dirty="0"/>
              <a:t>tipo</a:t>
            </a:r>
            <a:br>
              <a:rPr sz="1000" dirty="0"/>
            </a:br>
            <a:r>
              <a:rPr sz="1000" dirty="0"/>
              <a:t>zona</a:t>
            </a:r>
            <a:br>
              <a:rPr sz="1000" dirty="0"/>
            </a:br>
            <a:r>
              <a:rPr sz="1000" dirty="0"/>
              <a:t>descripcion</a:t>
            </a:r>
            <a:br>
              <a:rPr sz="1000" dirty="0"/>
            </a:br>
            <a:r>
              <a:rPr sz="1000" dirty="0"/>
              <a:t>impactoAccesibilidad</a:t>
            </a:r>
            <a:br>
              <a:rPr sz="1000" dirty="0"/>
            </a:br>
            <a:r>
              <a:rPr sz="1000" dirty="0"/>
              <a:t>fechaInicio</a:t>
            </a:r>
            <a:br>
              <a:rPr sz="1000" dirty="0"/>
            </a:br>
            <a:r>
              <a:rPr sz="1000" dirty="0"/>
              <a:t>fechaFin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3703320"/>
            <a:ext cx="2331720" cy="1874519"/>
          </a:xfrm>
          <a:prstGeom prst="roundRect">
            <a:avLst/>
          </a:prstGeom>
          <a:solidFill>
            <a:srgbClr val="EBF9F1"/>
          </a:solidFill>
          <a:ln>
            <a:solidFill>
              <a:srgbClr val="9BA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8823960" y="3703320"/>
            <a:ext cx="2331720" cy="347472"/>
          </a:xfrm>
          <a:prstGeom prst="rect">
            <a:avLst/>
          </a:prstGeom>
          <a:solidFill>
            <a:srgbClr val="26AA69"/>
          </a:solidFill>
          <a:ln>
            <a:solidFill>
              <a:srgbClr val="26A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897112" y="3729413"/>
            <a:ext cx="218541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preferenciasAlertas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3688" y="4123944"/>
            <a:ext cx="2112263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282E36"/>
                </a:solidFill>
              </a:rPr>
              <a:t>{preferenciaId}</a:t>
            </a:r>
            <a:br>
              <a:rPr sz="1000" dirty="0"/>
            </a:br>
            <a:r>
              <a:rPr sz="1000" dirty="0"/>
              <a:t>usuarioId</a:t>
            </a:r>
            <a:br>
              <a:rPr sz="1000" dirty="0"/>
            </a:br>
            <a:r>
              <a:rPr sz="1000" dirty="0"/>
              <a:t>categoriaId</a:t>
            </a:r>
            <a:br>
              <a:rPr sz="1000" dirty="0"/>
            </a:br>
            <a:r>
              <a:rPr sz="1000" dirty="0"/>
              <a:t>activa</a:t>
            </a:r>
            <a:br>
              <a:rPr sz="1000" dirty="0"/>
            </a:br>
            <a:r>
              <a:rPr sz="1000" dirty="0"/>
              <a:t>fechaActualizacion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06040" y="2057400"/>
            <a:ext cx="457200" cy="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31720" y="1853442"/>
            <a:ext cx="1005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E767E"/>
                </a:solidFill>
                <a:latin typeface="+mj-lt"/>
              </a:rPr>
              <a:t>usuarioId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52059" y="1853442"/>
            <a:ext cx="1005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E767E"/>
                </a:solidFill>
                <a:latin typeface="+mj-lt"/>
              </a:rPr>
              <a:t>categoriaId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5074920" y="1965960"/>
            <a:ext cx="3291840" cy="64008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17920" y="2115129"/>
            <a:ext cx="1005840" cy="195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70" b="0" dirty="0">
                <a:solidFill>
                  <a:srgbClr val="6E767E"/>
                </a:solidFill>
                <a:latin typeface="Aptos"/>
              </a:rPr>
              <a:t>reporteId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06040" y="2468880"/>
            <a:ext cx="5760720" cy="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83480" y="2264923"/>
            <a:ext cx="1005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E767E"/>
                </a:solidFill>
                <a:latin typeface="+mj-lt"/>
              </a:rPr>
              <a:t>usuarioId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600200" y="2834640"/>
            <a:ext cx="0" cy="86868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97280" y="3057329"/>
            <a:ext cx="10058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6E767E"/>
                </a:solidFill>
                <a:latin typeface="+mj-lt"/>
              </a:rPr>
              <a:t>usuarioId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60520" y="3200400"/>
            <a:ext cx="0" cy="50292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7600" y="3247903"/>
            <a:ext cx="1005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E767E"/>
                </a:solidFill>
                <a:latin typeface="+mj-lt"/>
              </a:rPr>
              <a:t>reporteId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103120" y="2697480"/>
            <a:ext cx="7269480" cy="100584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234940" y="3000290"/>
            <a:ext cx="100584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>
                <a:solidFill>
                  <a:srgbClr val="6E767E"/>
                </a:solidFill>
                <a:latin typeface="+mj-lt"/>
              </a:rPr>
              <a:t>usuarioId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66560" y="2743200"/>
            <a:ext cx="3154680" cy="960120"/>
          </a:xfrm>
          <a:prstGeom prst="line">
            <a:avLst/>
          </a:prstGeom>
          <a:ln w="15240">
            <a:solidFill>
              <a:srgbClr val="6E76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840979" y="3019303"/>
            <a:ext cx="10058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6E767E"/>
                </a:solidFill>
                <a:latin typeface="+mj-lt"/>
              </a:rPr>
              <a:t>categoriaId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79" y="5743991"/>
            <a:ext cx="667943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113E74"/>
                </a:solidFill>
              </a:rPr>
              <a:t>Estados: Reportado → En revisión → Derivado → En proceso → Resuelto → Cerrado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289733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6E767E"/>
                </a:solidFill>
              </a:rPr>
              <a:t>Nota: usuarioId, reporteId y categoriaId representan referencias lógicas; no son claves foráneas 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230</Words>
  <Application>Microsoft Office PowerPoint</Application>
  <PresentationFormat>Panorámica</PresentationFormat>
  <Paragraphs>30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claudio torres</cp:lastModifiedBy>
  <cp:revision>2</cp:revision>
  <dcterms:created xsi:type="dcterms:W3CDTF">2013-01-27T09:14:16Z</dcterms:created>
  <dcterms:modified xsi:type="dcterms:W3CDTF">2026-09-06T23:38:19Z</dcterms:modified>
  <cp:category/>
</cp:coreProperties>
</file>